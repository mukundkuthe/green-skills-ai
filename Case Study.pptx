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6"/>
  </p:notesMasterIdLst>
  <p:sldIdLst>
    <p:sldId id="1300" r:id="rId5"/>
    <p:sldId id="1291" r:id="rId6"/>
    <p:sldId id="1303" r:id="rId7"/>
    <p:sldId id="1301" r:id="rId8"/>
    <p:sldId id="1302" r:id="rId9"/>
    <p:sldId id="1304" r:id="rId10"/>
    <p:sldId id="1306" r:id="rId11"/>
    <p:sldId id="1295" r:id="rId12"/>
    <p:sldId id="1305" r:id="rId13"/>
    <p:sldId id="1296" r:id="rId14"/>
    <p:sldId id="1250"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EB"/>
    <a:srgbClr val="EDEEFF"/>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42F407-CA2B-4F23-ADA1-41755FF8CC9E}" v="97" dt="2025-01-18T03:41:18.6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098" autoAdjust="0"/>
  </p:normalViewPr>
  <p:slideViewPr>
    <p:cSldViewPr snapToGrid="0">
      <p:cViewPr varScale="1">
        <p:scale>
          <a:sx n="70" d="100"/>
          <a:sy n="70" d="100"/>
        </p:scale>
        <p:origin x="1138" y="53"/>
      </p:cViewPr>
      <p:guideLst>
        <p:guide orient="horz" pos="792"/>
        <p:guide pos="192"/>
        <p:guide orient="horz" pos="10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226"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notesMaster" Target="notesMasters/notesMaster1.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nd kuthe" userId="7a21fdf4916ef81f" providerId="LiveId" clId="{D242F407-CA2B-4F23-ADA1-41755FF8CC9E}"/>
    <pc:docChg chg="undo custSel addSld delSld modSld sldOrd">
      <pc:chgData name="mukund kuthe" userId="7a21fdf4916ef81f" providerId="LiveId" clId="{D242F407-CA2B-4F23-ADA1-41755FF8CC9E}" dt="2025-01-18T03:44:50.973" v="901" actId="1076"/>
      <pc:docMkLst>
        <pc:docMk/>
      </pc:docMkLst>
      <pc:sldChg chg="addSp delSp modSp mod">
        <pc:chgData name="mukund kuthe" userId="7a21fdf4916ef81f" providerId="LiveId" clId="{D242F407-CA2B-4F23-ADA1-41755FF8CC9E}" dt="2025-01-17T17:08:52.307" v="288" actId="1076"/>
        <pc:sldMkLst>
          <pc:docMk/>
          <pc:sldMk cId="2746043547" sldId="1291"/>
        </pc:sldMkLst>
        <pc:spChg chg="mod">
          <ac:chgData name="mukund kuthe" userId="7a21fdf4916ef81f" providerId="LiveId" clId="{D242F407-CA2B-4F23-ADA1-41755FF8CC9E}" dt="2025-01-17T17:08:47.298" v="287" actId="1076"/>
          <ac:spMkLst>
            <pc:docMk/>
            <pc:sldMk cId="2746043547" sldId="1291"/>
            <ac:spMk id="2" creationId="{687AFAD5-578C-DC2D-F127-90FF4287354D}"/>
          </ac:spMkLst>
        </pc:spChg>
        <pc:spChg chg="mod">
          <ac:chgData name="mukund kuthe" userId="7a21fdf4916ef81f" providerId="LiveId" clId="{D242F407-CA2B-4F23-ADA1-41755FF8CC9E}" dt="2025-01-17T17:08:20.068" v="285" actId="1076"/>
          <ac:spMkLst>
            <pc:docMk/>
            <pc:sldMk cId="2746043547" sldId="1291"/>
            <ac:spMk id="6" creationId="{8041DB6F-3EF1-B8E1-0B0C-6BB8EF6A90DC}"/>
          </ac:spMkLst>
        </pc:spChg>
        <pc:spChg chg="add del mod">
          <ac:chgData name="mukund kuthe" userId="7a21fdf4916ef81f" providerId="LiveId" clId="{D242F407-CA2B-4F23-ADA1-41755FF8CC9E}" dt="2025-01-17T17:08:25.310" v="286" actId="1076"/>
          <ac:spMkLst>
            <pc:docMk/>
            <pc:sldMk cId="2746043547" sldId="1291"/>
            <ac:spMk id="7" creationId="{7EA2C555-3BC3-F99C-66A0-2DF7D76A6867}"/>
          </ac:spMkLst>
        </pc:spChg>
        <pc:spChg chg="mod">
          <ac:chgData name="mukund kuthe" userId="7a21fdf4916ef81f" providerId="LiveId" clId="{D242F407-CA2B-4F23-ADA1-41755FF8CC9E}" dt="2025-01-17T17:08:52.307" v="288" actId="1076"/>
          <ac:spMkLst>
            <pc:docMk/>
            <pc:sldMk cId="2746043547" sldId="1291"/>
            <ac:spMk id="9" creationId="{091B843F-6928-3290-2287-5FA1F531B685}"/>
          </ac:spMkLst>
        </pc:spChg>
        <pc:picChg chg="add mod">
          <ac:chgData name="mukund kuthe" userId="7a21fdf4916ef81f" providerId="LiveId" clId="{D242F407-CA2B-4F23-ADA1-41755FF8CC9E}" dt="2025-01-17T17:07:48.895" v="262" actId="14100"/>
          <ac:picMkLst>
            <pc:docMk/>
            <pc:sldMk cId="2746043547" sldId="1291"/>
            <ac:picMk id="4" creationId="{57E8CF34-5680-ECF0-5CC9-969343D86846}"/>
          </ac:picMkLst>
        </pc:picChg>
      </pc:sldChg>
      <pc:sldChg chg="delSp modSp mod">
        <pc:chgData name="mukund kuthe" userId="7a21fdf4916ef81f" providerId="LiveId" clId="{D242F407-CA2B-4F23-ADA1-41755FF8CC9E}" dt="2025-01-17T17:52:04.230" v="783" actId="14100"/>
        <pc:sldMkLst>
          <pc:docMk/>
          <pc:sldMk cId="2046321281" sldId="1295"/>
        </pc:sldMkLst>
        <pc:spChg chg="mod">
          <ac:chgData name="mukund kuthe" userId="7a21fdf4916ef81f" providerId="LiveId" clId="{D242F407-CA2B-4F23-ADA1-41755FF8CC9E}" dt="2025-01-17T17:52:04.230" v="783" actId="14100"/>
          <ac:spMkLst>
            <pc:docMk/>
            <pc:sldMk cId="2046321281" sldId="1295"/>
            <ac:spMk id="4" creationId="{EC8B546F-F91E-160B-DC7F-688AFB5A50EA}"/>
          </ac:spMkLst>
        </pc:spChg>
        <pc:spChg chg="del mod">
          <ac:chgData name="mukund kuthe" userId="7a21fdf4916ef81f" providerId="LiveId" clId="{D242F407-CA2B-4F23-ADA1-41755FF8CC9E}" dt="2025-01-17T17:39:39.925" v="646" actId="478"/>
          <ac:spMkLst>
            <pc:docMk/>
            <pc:sldMk cId="2046321281" sldId="1295"/>
            <ac:spMk id="8" creationId="{FF6EE1DD-6A31-2A28-F8BE-6E59037422CF}"/>
          </ac:spMkLst>
        </pc:spChg>
        <pc:spChg chg="del">
          <ac:chgData name="mukund kuthe" userId="7a21fdf4916ef81f" providerId="LiveId" clId="{D242F407-CA2B-4F23-ADA1-41755FF8CC9E}" dt="2025-01-17T17:39:44.302" v="647" actId="478"/>
          <ac:spMkLst>
            <pc:docMk/>
            <pc:sldMk cId="2046321281" sldId="1295"/>
            <ac:spMk id="9" creationId="{18F06934-F528-B704-BB31-70471CEEB0BF}"/>
          </ac:spMkLst>
        </pc:spChg>
        <pc:picChg chg="del">
          <ac:chgData name="mukund kuthe" userId="7a21fdf4916ef81f" providerId="LiveId" clId="{D242F407-CA2B-4F23-ADA1-41755FF8CC9E}" dt="2025-01-17T17:38:13.023" v="642" actId="478"/>
          <ac:picMkLst>
            <pc:docMk/>
            <pc:sldMk cId="2046321281" sldId="1295"/>
            <ac:picMk id="2" creationId="{75F7452F-58BC-17CE-3016-C04F4A0BB586}"/>
          </ac:picMkLst>
        </pc:picChg>
      </pc:sldChg>
      <pc:sldChg chg="addSp delSp modSp mod">
        <pc:chgData name="mukund kuthe" userId="7a21fdf4916ef81f" providerId="LiveId" clId="{D242F407-CA2B-4F23-ADA1-41755FF8CC9E}" dt="2025-01-18T03:41:18.620" v="870" actId="1076"/>
        <pc:sldMkLst>
          <pc:docMk/>
          <pc:sldMk cId="1307925877" sldId="1296"/>
        </pc:sldMkLst>
        <pc:spChg chg="add">
          <ac:chgData name="mukund kuthe" userId="7a21fdf4916ef81f" providerId="LiveId" clId="{D242F407-CA2B-4F23-ADA1-41755FF8CC9E}" dt="2025-01-18T03:39:56.006" v="849"/>
          <ac:spMkLst>
            <pc:docMk/>
            <pc:sldMk cId="1307925877" sldId="1296"/>
            <ac:spMk id="2" creationId="{11CB9DA1-AC4F-8353-5C60-AF633F647EDF}"/>
          </ac:spMkLst>
        </pc:spChg>
        <pc:spChg chg="mod">
          <ac:chgData name="mukund kuthe" userId="7a21fdf4916ef81f" providerId="LiveId" clId="{D242F407-CA2B-4F23-ADA1-41755FF8CC9E}" dt="2025-01-17T17:47:03.044" v="712" actId="1076"/>
          <ac:spMkLst>
            <pc:docMk/>
            <pc:sldMk cId="1307925877" sldId="1296"/>
            <ac:spMk id="3" creationId="{02C0F50E-3048-BEA6-6962-A48C023C0388}"/>
          </ac:spMkLst>
        </pc:spChg>
        <pc:spChg chg="del mod">
          <ac:chgData name="mukund kuthe" userId="7a21fdf4916ef81f" providerId="LiveId" clId="{D242F407-CA2B-4F23-ADA1-41755FF8CC9E}" dt="2025-01-18T03:40:37.474" v="858"/>
          <ac:spMkLst>
            <pc:docMk/>
            <pc:sldMk cId="1307925877" sldId="1296"/>
            <ac:spMk id="4" creationId="{EC8B546F-F91E-160B-DC7F-688AFB5A50EA}"/>
          </ac:spMkLst>
        </pc:spChg>
        <pc:spChg chg="add mod">
          <ac:chgData name="mukund kuthe" userId="7a21fdf4916ef81f" providerId="LiveId" clId="{D242F407-CA2B-4F23-ADA1-41755FF8CC9E}" dt="2025-01-18T03:41:18.620" v="870" actId="1076"/>
          <ac:spMkLst>
            <pc:docMk/>
            <pc:sldMk cId="1307925877" sldId="1296"/>
            <ac:spMk id="5" creationId="{12639368-C3AD-1D1B-9CFB-5653DE413BAB}"/>
          </ac:spMkLst>
        </pc:spChg>
      </pc:sldChg>
      <pc:sldChg chg="modSp mod">
        <pc:chgData name="mukund kuthe" userId="7a21fdf4916ef81f" providerId="LiveId" clId="{D242F407-CA2B-4F23-ADA1-41755FF8CC9E}" dt="2025-01-17T16:47:16.975" v="159" actId="20577"/>
        <pc:sldMkLst>
          <pc:docMk/>
          <pc:sldMk cId="2000950779" sldId="1300"/>
        </pc:sldMkLst>
        <pc:spChg chg="mod">
          <ac:chgData name="mukund kuthe" userId="7a21fdf4916ef81f" providerId="LiveId" clId="{D242F407-CA2B-4F23-ADA1-41755FF8CC9E}" dt="2025-01-17T16:45:02.969" v="141" actId="255"/>
          <ac:spMkLst>
            <pc:docMk/>
            <pc:sldMk cId="2000950779" sldId="1300"/>
            <ac:spMk id="2" creationId="{938525A2-49D0-AAD6-F4EE-F488AD21601D}"/>
          </ac:spMkLst>
        </pc:spChg>
        <pc:spChg chg="mod">
          <ac:chgData name="mukund kuthe" userId="7a21fdf4916ef81f" providerId="LiveId" clId="{D242F407-CA2B-4F23-ADA1-41755FF8CC9E}" dt="2025-01-17T16:47:16.975" v="159" actId="20577"/>
          <ac:spMkLst>
            <pc:docMk/>
            <pc:sldMk cId="2000950779" sldId="1300"/>
            <ac:spMk id="18" creationId="{E395316D-1E70-9E4D-C82D-DC6493EC4CED}"/>
          </ac:spMkLst>
        </pc:spChg>
      </pc:sldChg>
      <pc:sldChg chg="addSp delSp modSp mod">
        <pc:chgData name="mukund kuthe" userId="7a21fdf4916ef81f" providerId="LiveId" clId="{D242F407-CA2B-4F23-ADA1-41755FF8CC9E}" dt="2025-01-18T03:43:37.645" v="878" actId="14100"/>
        <pc:sldMkLst>
          <pc:docMk/>
          <pc:sldMk cId="1066288702" sldId="1301"/>
        </pc:sldMkLst>
        <pc:spChg chg="mod">
          <ac:chgData name="mukund kuthe" userId="7a21fdf4916ef81f" providerId="LiveId" clId="{D242F407-CA2B-4F23-ADA1-41755FF8CC9E}" dt="2025-01-17T17:18:37.267" v="342" actId="20577"/>
          <ac:spMkLst>
            <pc:docMk/>
            <pc:sldMk cId="1066288702" sldId="1301"/>
            <ac:spMk id="2" creationId="{687AFAD5-578C-DC2D-F127-90FF4287354D}"/>
          </ac:spMkLst>
        </pc:spChg>
        <pc:spChg chg="add mod">
          <ac:chgData name="mukund kuthe" userId="7a21fdf4916ef81f" providerId="LiveId" clId="{D242F407-CA2B-4F23-ADA1-41755FF8CC9E}" dt="2025-01-17T17:17:30.974" v="323" actId="404"/>
          <ac:spMkLst>
            <pc:docMk/>
            <pc:sldMk cId="1066288702" sldId="1301"/>
            <ac:spMk id="3" creationId="{FAED2BEE-A20C-6AC7-EC7F-4EC7EEAD69CE}"/>
          </ac:spMkLst>
        </pc:spChg>
        <pc:spChg chg="add mod">
          <ac:chgData name="mukund kuthe" userId="7a21fdf4916ef81f" providerId="LiveId" clId="{D242F407-CA2B-4F23-ADA1-41755FF8CC9E}" dt="2025-01-17T17:21:44.757" v="422" actId="12"/>
          <ac:spMkLst>
            <pc:docMk/>
            <pc:sldMk cId="1066288702" sldId="1301"/>
            <ac:spMk id="4" creationId="{56A85C6D-CC53-C4F2-477A-78F0C106F5A6}"/>
          </ac:spMkLst>
        </pc:spChg>
        <pc:spChg chg="add del mod">
          <ac:chgData name="mukund kuthe" userId="7a21fdf4916ef81f" providerId="LiveId" clId="{D242F407-CA2B-4F23-ADA1-41755FF8CC9E}" dt="2025-01-18T03:43:37.645" v="878" actId="14100"/>
          <ac:spMkLst>
            <pc:docMk/>
            <pc:sldMk cId="1066288702" sldId="1301"/>
            <ac:spMk id="7" creationId="{7EA2C555-3BC3-F99C-66A0-2DF7D76A6867}"/>
          </ac:spMkLst>
        </pc:spChg>
        <pc:spChg chg="del mod">
          <ac:chgData name="mukund kuthe" userId="7a21fdf4916ef81f" providerId="LiveId" clId="{D242F407-CA2B-4F23-ADA1-41755FF8CC9E}" dt="2025-01-17T17:17:48.462" v="326"/>
          <ac:spMkLst>
            <pc:docMk/>
            <pc:sldMk cId="1066288702" sldId="1301"/>
            <ac:spMk id="9" creationId="{091B843F-6928-3290-2287-5FA1F531B685}"/>
          </ac:spMkLst>
        </pc:spChg>
      </pc:sldChg>
      <pc:sldChg chg="addSp delSp modSp mod">
        <pc:chgData name="mukund kuthe" userId="7a21fdf4916ef81f" providerId="LiveId" clId="{D242F407-CA2B-4F23-ADA1-41755FF8CC9E}" dt="2025-01-18T03:42:27.940" v="875" actId="1076"/>
        <pc:sldMkLst>
          <pc:docMk/>
          <pc:sldMk cId="2025430063" sldId="1302"/>
        </pc:sldMkLst>
        <pc:spChg chg="add">
          <ac:chgData name="mukund kuthe" userId="7a21fdf4916ef81f" providerId="LiveId" clId="{D242F407-CA2B-4F23-ADA1-41755FF8CC9E}" dt="2025-01-17T17:24:55.958" v="489"/>
          <ac:spMkLst>
            <pc:docMk/>
            <pc:sldMk cId="2025430063" sldId="1302"/>
            <ac:spMk id="3" creationId="{D4507E9C-91B9-533D-FD71-00C4C9B73543}"/>
          </ac:spMkLst>
        </pc:spChg>
        <pc:spChg chg="add del mod">
          <ac:chgData name="mukund kuthe" userId="7a21fdf4916ef81f" providerId="LiveId" clId="{D242F407-CA2B-4F23-ADA1-41755FF8CC9E}" dt="2025-01-17T17:25:48.947" v="496" actId="1076"/>
          <ac:spMkLst>
            <pc:docMk/>
            <pc:sldMk cId="2025430063" sldId="1302"/>
            <ac:spMk id="4" creationId="{D676DB42-3FAA-5997-004A-512A15BB7D99}"/>
          </ac:spMkLst>
        </pc:spChg>
        <pc:spChg chg="add">
          <ac:chgData name="mukund kuthe" userId="7a21fdf4916ef81f" providerId="LiveId" clId="{D242F407-CA2B-4F23-ADA1-41755FF8CC9E}" dt="2025-01-17T17:27:47.081" v="517"/>
          <ac:spMkLst>
            <pc:docMk/>
            <pc:sldMk cId="2025430063" sldId="1302"/>
            <ac:spMk id="5" creationId="{219B9800-3F9C-5779-E22C-9EEC02DFEE2D}"/>
          </ac:spMkLst>
        </pc:spChg>
        <pc:spChg chg="add del mod">
          <ac:chgData name="mukund kuthe" userId="7a21fdf4916ef81f" providerId="LiveId" clId="{D242F407-CA2B-4F23-ADA1-41755FF8CC9E}" dt="2025-01-18T03:42:27.940" v="875" actId="1076"/>
          <ac:spMkLst>
            <pc:docMk/>
            <pc:sldMk cId="2025430063" sldId="1302"/>
            <ac:spMk id="7" creationId="{7EA2C555-3BC3-F99C-66A0-2DF7D76A6867}"/>
          </ac:spMkLst>
        </pc:spChg>
        <pc:spChg chg="add del mod">
          <ac:chgData name="mukund kuthe" userId="7a21fdf4916ef81f" providerId="LiveId" clId="{D242F407-CA2B-4F23-ADA1-41755FF8CC9E}" dt="2025-01-17T17:29:34.716" v="552" actId="20577"/>
          <ac:spMkLst>
            <pc:docMk/>
            <pc:sldMk cId="2025430063" sldId="1302"/>
            <ac:spMk id="8" creationId="{D259369D-503D-C5C4-2F82-1284C48A48A6}"/>
          </ac:spMkLst>
        </pc:spChg>
        <pc:spChg chg="add del mod">
          <ac:chgData name="mukund kuthe" userId="7a21fdf4916ef81f" providerId="LiveId" clId="{D242F407-CA2B-4F23-ADA1-41755FF8CC9E}" dt="2025-01-17T17:29:02.470" v="541"/>
          <ac:spMkLst>
            <pc:docMk/>
            <pc:sldMk cId="2025430063" sldId="1302"/>
            <ac:spMk id="9" creationId="{091B843F-6928-3290-2287-5FA1F531B685}"/>
          </ac:spMkLst>
        </pc:spChg>
      </pc:sldChg>
      <pc:sldChg chg="addSp delSp modSp add mod ord">
        <pc:chgData name="mukund kuthe" userId="7a21fdf4916ef81f" providerId="LiveId" clId="{D242F407-CA2B-4F23-ADA1-41755FF8CC9E}" dt="2025-01-18T03:44:50.973" v="901" actId="1076"/>
        <pc:sldMkLst>
          <pc:docMk/>
          <pc:sldMk cId="1551642904" sldId="1303"/>
        </pc:sldMkLst>
        <pc:spChg chg="mod">
          <ac:chgData name="mukund kuthe" userId="7a21fdf4916ef81f" providerId="LiveId" clId="{D242F407-CA2B-4F23-ADA1-41755FF8CC9E}" dt="2025-01-18T03:44:32.459" v="897" actId="14100"/>
          <ac:spMkLst>
            <pc:docMk/>
            <pc:sldMk cId="1551642904" sldId="1303"/>
            <ac:spMk id="7" creationId="{D743856F-EEC5-C50E-DF1E-E03048FFC1D5}"/>
          </ac:spMkLst>
        </pc:spChg>
        <pc:spChg chg="add del mod">
          <ac:chgData name="mukund kuthe" userId="7a21fdf4916ef81f" providerId="LiveId" clId="{D242F407-CA2B-4F23-ADA1-41755FF8CC9E}" dt="2025-01-17T17:03:31.165" v="257" actId="1076"/>
          <ac:spMkLst>
            <pc:docMk/>
            <pc:sldMk cId="1551642904" sldId="1303"/>
            <ac:spMk id="9" creationId="{7EE028A8-AABF-D782-6BB5-EA4EB5184D7B}"/>
          </ac:spMkLst>
        </pc:spChg>
        <pc:spChg chg="add mod">
          <ac:chgData name="mukund kuthe" userId="7a21fdf4916ef81f" providerId="LiveId" clId="{D242F407-CA2B-4F23-ADA1-41755FF8CC9E}" dt="2025-01-18T03:44:50.973" v="901" actId="1076"/>
          <ac:spMkLst>
            <pc:docMk/>
            <pc:sldMk cId="1551642904" sldId="1303"/>
            <ac:spMk id="10" creationId="{F52CD8C8-8FF4-09A3-4A7A-838625F06D4D}"/>
          </ac:spMkLst>
        </pc:spChg>
        <pc:graphicFrameChg chg="add del modGraphic">
          <ac:chgData name="mukund kuthe" userId="7a21fdf4916ef81f" providerId="LiveId" clId="{D242F407-CA2B-4F23-ADA1-41755FF8CC9E}" dt="2025-01-17T17:33:07.158" v="596" actId="27309"/>
          <ac:graphicFrameMkLst>
            <pc:docMk/>
            <pc:sldMk cId="1551642904" sldId="1303"/>
            <ac:graphicFrameMk id="4" creationId="{F4CA8560-D7A5-3175-3FDD-28C3E785EBEE}"/>
          </ac:graphicFrameMkLst>
        </pc:graphicFrameChg>
        <pc:picChg chg="add del mod">
          <ac:chgData name="mukund kuthe" userId="7a21fdf4916ef81f" providerId="LiveId" clId="{D242F407-CA2B-4F23-ADA1-41755FF8CC9E}" dt="2025-01-18T01:56:29.240" v="785" actId="478"/>
          <ac:picMkLst>
            <pc:docMk/>
            <pc:sldMk cId="1551642904" sldId="1303"/>
            <ac:picMk id="4" creationId="{F8999D95-61A5-51C1-8A58-40B9D8B18042}"/>
          </ac:picMkLst>
        </pc:picChg>
        <pc:picChg chg="add mod">
          <ac:chgData name="mukund kuthe" userId="7a21fdf4916ef81f" providerId="LiveId" clId="{D242F407-CA2B-4F23-ADA1-41755FF8CC9E}" dt="2025-01-18T03:44:44.932" v="900" actId="14100"/>
          <ac:picMkLst>
            <pc:docMk/>
            <pc:sldMk cId="1551642904" sldId="1303"/>
            <ac:picMk id="8" creationId="{B56965AA-63FB-66C3-4418-8A449EF369FF}"/>
          </ac:picMkLst>
        </pc:picChg>
      </pc:sldChg>
      <pc:sldChg chg="new del">
        <pc:chgData name="mukund kuthe" userId="7a21fdf4916ef81f" providerId="LiveId" clId="{D242F407-CA2B-4F23-ADA1-41755FF8CC9E}" dt="2025-01-17T17:29:53.753" v="554" actId="47"/>
        <pc:sldMkLst>
          <pc:docMk/>
          <pc:sldMk cId="1838012066" sldId="1304"/>
        </pc:sldMkLst>
      </pc:sldChg>
      <pc:sldChg chg="add del">
        <pc:chgData name="mukund kuthe" userId="7a21fdf4916ef81f" providerId="LiveId" clId="{D242F407-CA2B-4F23-ADA1-41755FF8CC9E}" dt="2025-01-17T17:00:46.598" v="236" actId="2696"/>
        <pc:sldMkLst>
          <pc:docMk/>
          <pc:sldMk cId="3440493762" sldId="1304"/>
        </pc:sldMkLst>
      </pc:sldChg>
      <pc:sldChg chg="delSp modSp add mod">
        <pc:chgData name="mukund kuthe" userId="7a21fdf4916ef81f" providerId="LiveId" clId="{D242F407-CA2B-4F23-ADA1-41755FF8CC9E}" dt="2025-01-17T17:34:49.254" v="638" actId="1076"/>
        <pc:sldMkLst>
          <pc:docMk/>
          <pc:sldMk cId="3695575350" sldId="1304"/>
        </pc:sldMkLst>
        <pc:spChg chg="del mod">
          <ac:chgData name="mukund kuthe" userId="7a21fdf4916ef81f" providerId="LiveId" clId="{D242F407-CA2B-4F23-ADA1-41755FF8CC9E}" dt="2025-01-17T17:32:52.597" v="591" actId="478"/>
          <ac:spMkLst>
            <pc:docMk/>
            <pc:sldMk cId="3695575350" sldId="1304"/>
            <ac:spMk id="2" creationId="{A152F550-F022-DDB2-7697-E2ECE30F53C4}"/>
          </ac:spMkLst>
        </pc:spChg>
        <pc:spChg chg="mod">
          <ac:chgData name="mukund kuthe" userId="7a21fdf4916ef81f" providerId="LiveId" clId="{D242F407-CA2B-4F23-ADA1-41755FF8CC9E}" dt="2025-01-17T17:34:49.254" v="638" actId="1076"/>
          <ac:spMkLst>
            <pc:docMk/>
            <pc:sldMk cId="3695575350" sldId="1304"/>
            <ac:spMk id="7" creationId="{6FAB560C-CB58-A8C0-BC1C-5864E04ECCD0}"/>
          </ac:spMkLst>
        </pc:spChg>
        <pc:spChg chg="mod">
          <ac:chgData name="mukund kuthe" userId="7a21fdf4916ef81f" providerId="LiveId" clId="{D242F407-CA2B-4F23-ADA1-41755FF8CC9E}" dt="2025-01-17T17:32:57.661" v="592" actId="1076"/>
          <ac:spMkLst>
            <pc:docMk/>
            <pc:sldMk cId="3695575350" sldId="1304"/>
            <ac:spMk id="8" creationId="{F5CAF3C6-B209-A291-D298-493AAC42B63F}"/>
          </ac:spMkLst>
        </pc:spChg>
      </pc:sldChg>
      <pc:sldChg chg="addSp delSp modSp add mod">
        <pc:chgData name="mukund kuthe" userId="7a21fdf4916ef81f" providerId="LiveId" clId="{D242F407-CA2B-4F23-ADA1-41755FF8CC9E}" dt="2025-01-17T17:50:56.368" v="777" actId="1076"/>
        <pc:sldMkLst>
          <pc:docMk/>
          <pc:sldMk cId="747741477" sldId="1305"/>
        </pc:sldMkLst>
        <pc:spChg chg="add mod">
          <ac:chgData name="mukund kuthe" userId="7a21fdf4916ef81f" providerId="LiveId" clId="{D242F407-CA2B-4F23-ADA1-41755FF8CC9E}" dt="2025-01-17T17:49:06.926" v="716"/>
          <ac:spMkLst>
            <pc:docMk/>
            <pc:sldMk cId="747741477" sldId="1305"/>
            <ac:spMk id="2" creationId="{F1E5ADFC-AD08-52CE-7740-8CE4BF91C013}"/>
          </ac:spMkLst>
        </pc:spChg>
        <pc:spChg chg="del">
          <ac:chgData name="mukund kuthe" userId="7a21fdf4916ef81f" providerId="LiveId" clId="{D242F407-CA2B-4F23-ADA1-41755FF8CC9E}" dt="2025-01-17T17:44:06.244" v="659" actId="478"/>
          <ac:spMkLst>
            <pc:docMk/>
            <pc:sldMk cId="747741477" sldId="1305"/>
            <ac:spMk id="3" creationId="{6AB7EC30-D2AC-26E6-02F8-BCE3A939A131}"/>
          </ac:spMkLst>
        </pc:spChg>
        <pc:spChg chg="mod">
          <ac:chgData name="mukund kuthe" userId="7a21fdf4916ef81f" providerId="LiveId" clId="{D242F407-CA2B-4F23-ADA1-41755FF8CC9E}" dt="2025-01-17T17:50:31.315" v="772" actId="14100"/>
          <ac:spMkLst>
            <pc:docMk/>
            <pc:sldMk cId="747741477" sldId="1305"/>
            <ac:spMk id="4" creationId="{E8019692-B961-8A60-2B3E-F7A4FBDB6D25}"/>
          </ac:spMkLst>
        </pc:spChg>
        <pc:spChg chg="add del mod">
          <ac:chgData name="mukund kuthe" userId="7a21fdf4916ef81f" providerId="LiveId" clId="{D242F407-CA2B-4F23-ADA1-41755FF8CC9E}" dt="2025-01-17T17:49:16.924" v="718" actId="478"/>
          <ac:spMkLst>
            <pc:docMk/>
            <pc:sldMk cId="747741477" sldId="1305"/>
            <ac:spMk id="5" creationId="{4F25B117-458C-6C53-A86D-5C02D59CAA00}"/>
          </ac:spMkLst>
        </pc:spChg>
        <pc:spChg chg="add mod">
          <ac:chgData name="mukund kuthe" userId="7a21fdf4916ef81f" providerId="LiveId" clId="{D242F407-CA2B-4F23-ADA1-41755FF8CC9E}" dt="2025-01-17T17:49:59.126" v="768" actId="14100"/>
          <ac:spMkLst>
            <pc:docMk/>
            <pc:sldMk cId="747741477" sldId="1305"/>
            <ac:spMk id="6" creationId="{1EA2521A-3A66-4FB2-53B5-8C47FC642769}"/>
          </ac:spMkLst>
        </pc:spChg>
        <pc:picChg chg="add mod">
          <ac:chgData name="mukund kuthe" userId="7a21fdf4916ef81f" providerId="LiveId" clId="{D242F407-CA2B-4F23-ADA1-41755FF8CC9E}" dt="2025-01-17T17:50:56.368" v="777" actId="1076"/>
          <ac:picMkLst>
            <pc:docMk/>
            <pc:sldMk cId="747741477" sldId="1305"/>
            <ac:picMk id="8" creationId="{281719D9-532B-FB5E-63DB-3D591C4D400B}"/>
          </ac:picMkLst>
        </pc:picChg>
      </pc:sldChg>
      <pc:sldChg chg="addSp modSp new mod">
        <pc:chgData name="mukund kuthe" userId="7a21fdf4916ef81f" providerId="LiveId" clId="{D242F407-CA2B-4F23-ADA1-41755FF8CC9E}" dt="2025-01-18T01:58:17.439" v="807" actId="1076"/>
        <pc:sldMkLst>
          <pc:docMk/>
          <pc:sldMk cId="1351596980" sldId="1306"/>
        </pc:sldMkLst>
        <pc:spChg chg="add mod">
          <ac:chgData name="mukund kuthe" userId="7a21fdf4916ef81f" providerId="LiveId" clId="{D242F407-CA2B-4F23-ADA1-41755FF8CC9E}" dt="2025-01-18T01:58:17.439" v="807" actId="1076"/>
          <ac:spMkLst>
            <pc:docMk/>
            <pc:sldMk cId="1351596980" sldId="1306"/>
            <ac:spMk id="4" creationId="{58D4AF69-B8A5-26C7-B389-AF8FD3C81293}"/>
          </ac:spMkLst>
        </pc:spChg>
        <pc:picChg chg="add mod">
          <ac:chgData name="mukund kuthe" userId="7a21fdf4916ef81f" providerId="LiveId" clId="{D242F407-CA2B-4F23-ADA1-41755FF8CC9E}" dt="2025-01-18T01:58:10.355" v="806" actId="1076"/>
          <ac:picMkLst>
            <pc:docMk/>
            <pc:sldMk cId="1351596980" sldId="1306"/>
            <ac:picMk id="3" creationId="{0F5D435B-5BAA-F7DE-1E2E-1027851DBEDA}"/>
          </ac:picMkLst>
        </pc:picChg>
      </pc:sldChg>
      <pc:sldChg chg="new del">
        <pc:chgData name="mukund kuthe" userId="7a21fdf4916ef81f" providerId="LiveId" clId="{D242F407-CA2B-4F23-ADA1-41755FF8CC9E}" dt="2025-01-18T03:37:22.781" v="847" actId="680"/>
        <pc:sldMkLst>
          <pc:docMk/>
          <pc:sldMk cId="3569608188" sldId="130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dirty="0"/>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619783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108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D8B2392-A6FB-6ACC-9DB4-C4E5C6F8B283}"/>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28B687CD-C1CC-92D3-C53E-F69FFE96CA9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406A5183-1C75-D506-C490-4E2AD25C39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49868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658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13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4C3AA51-0659-DD63-6B2C-E815D238B713}"/>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1AA58D56-2AAF-9599-2605-31D702A0493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134CF779-689E-DCC1-BD85-386A17B1A8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3201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FEB0C3F-F39E-E9F0-0190-F5942B931A23}"/>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9422C385-AE1F-F6B6-77F5-1DFC863BABD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CFE123AA-7C52-039D-EFF9-92F88EC5A0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563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384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mdpi.com/1424-8220/25/1/206" TargetMode="External"/><Relationship Id="rId7" Type="http://schemas.openxmlformats.org/officeDocument/2006/relationships/hyperlink" Target="https://ieeexplore.ieee.org/document/8449150"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mdpi.com/2071-1050/16/14/6087" TargetMode="External"/><Relationship Id="rId5" Type="http://schemas.openxmlformats.org/officeDocument/2006/relationships/hyperlink" Target="https://www.mdpi.com/2079-9292/13/2/438" TargetMode="External"/><Relationship Id="rId4" Type="http://schemas.openxmlformats.org/officeDocument/2006/relationships/hyperlink" Target="https://ieeexplore.ieee.org/document/10664535"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02540B31-8123-24C6-B0F3-4444B51E9487}"/>
              </a:ext>
            </a:extLst>
          </p:cNvPr>
          <p:cNvPicPr>
            <a:picLocks noChangeAspect="1"/>
          </p:cNvPicPr>
          <p:nvPr/>
        </p:nvPicPr>
        <p:blipFill>
          <a:blip r:embed="rId3"/>
          <a:stretch>
            <a:fillRect/>
          </a:stretch>
        </p:blipFill>
        <p:spPr>
          <a:xfrm>
            <a:off x="0" y="0"/>
            <a:ext cx="12192000" cy="6858000"/>
          </a:xfrm>
          <a:prstGeom prst="rect">
            <a:avLst/>
          </a:prstGeom>
        </p:spPr>
      </p:pic>
      <p:sp>
        <p:nvSpPr>
          <p:cNvPr id="5" name="Rectangle: Rounded Corners 4">
            <a:extLst>
              <a:ext uri="{FF2B5EF4-FFF2-40B4-BE49-F238E27FC236}">
                <a16:creationId xmlns:a16="http://schemas.microsoft.com/office/drawing/2014/main" id="{BB9AA95F-56F4-3F03-5804-8F7C6AFCE0BB}"/>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E395316D-1E70-9E4D-C82D-DC6493EC4CED}"/>
              </a:ext>
            </a:extLst>
          </p:cNvPr>
          <p:cNvSpPr txBox="1"/>
          <p:nvPr/>
        </p:nvSpPr>
        <p:spPr>
          <a:xfrm>
            <a:off x="5189290" y="2224891"/>
            <a:ext cx="6042519" cy="1323439"/>
          </a:xfrm>
          <a:prstGeom prst="rect">
            <a:avLst/>
          </a:prstGeom>
          <a:noFill/>
        </p:spPr>
        <p:txBody>
          <a:bodyPr wrap="square" rtlCol="0">
            <a:spAutoFit/>
          </a:bodyPr>
          <a:lstStyle/>
          <a:p>
            <a:r>
              <a:rPr lang="en-IN" sz="4000" dirty="0">
                <a:solidFill>
                  <a:srgbClr val="F9FFEB"/>
                </a:solidFill>
              </a:rPr>
              <a:t>Predictive Maintenance in Solar Power Systems</a:t>
            </a:r>
            <a:endParaRPr lang="en-US" sz="4400" b="1" dirty="0">
              <a:solidFill>
                <a:srgbClr val="F9FFEB"/>
              </a:solidFill>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A8D97332-B949-6172-80A0-C0B4B4FB67E8}"/>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2A27540A-9E08-71C9-C49B-6AA04DE6EB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EEE6DDB2-51A4-6779-CC14-E1171B3CDF64}"/>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id="{938525A2-49D0-AAD6-F4EE-F488AD21601D}"/>
              </a:ext>
            </a:extLst>
          </p:cNvPr>
          <p:cNvSpPr txBox="1"/>
          <p:nvPr/>
        </p:nvSpPr>
        <p:spPr>
          <a:xfrm>
            <a:off x="5189290" y="4466649"/>
            <a:ext cx="4626588" cy="1241622"/>
          </a:xfrm>
          <a:prstGeom prst="rect">
            <a:avLst/>
          </a:prstGeom>
          <a:noFill/>
        </p:spPr>
        <p:txBody>
          <a:bodyPr wrap="none" rtlCol="0">
            <a:spAutoFit/>
          </a:bodyPr>
          <a:lstStyle/>
          <a:p>
            <a:r>
              <a:rPr lang="en-IN" sz="1870" b="0" i="0" dirty="0">
                <a:solidFill>
                  <a:srgbClr val="F9FFEB"/>
                </a:solidFill>
                <a:effectLst/>
                <a:latin typeface="Google Sans"/>
              </a:rPr>
              <a:t>Symbiosis Institute of Technology</a:t>
            </a:r>
          </a:p>
          <a:p>
            <a:endParaRPr lang="en-US" dirty="0">
              <a:solidFill>
                <a:schemeClr val="bg1"/>
              </a:solidFill>
            </a:endParaRPr>
          </a:p>
          <a:p>
            <a:r>
              <a:rPr lang="en-US" dirty="0" err="1">
                <a:solidFill>
                  <a:schemeClr val="bg1"/>
                </a:solidFill>
              </a:rPr>
              <a:t>Rushi</a:t>
            </a:r>
            <a:r>
              <a:rPr lang="en-US" dirty="0">
                <a:solidFill>
                  <a:schemeClr val="bg1"/>
                </a:solidFill>
              </a:rPr>
              <a:t> </a:t>
            </a:r>
            <a:r>
              <a:rPr lang="en-US" dirty="0" err="1">
                <a:solidFill>
                  <a:schemeClr val="bg1"/>
                </a:solidFill>
              </a:rPr>
              <a:t>Parhad</a:t>
            </a:r>
            <a:r>
              <a:rPr lang="en-US" dirty="0">
                <a:solidFill>
                  <a:schemeClr val="bg1"/>
                </a:solidFill>
              </a:rPr>
              <a:t>, Mukund Kuthe</a:t>
            </a:r>
          </a:p>
          <a:p>
            <a:r>
              <a:rPr lang="en-US" dirty="0">
                <a:solidFill>
                  <a:schemeClr val="bg1"/>
                </a:solidFill>
              </a:rPr>
              <a:t>Prathmesh </a:t>
            </a:r>
            <a:r>
              <a:rPr lang="en-US" dirty="0" err="1">
                <a:solidFill>
                  <a:schemeClr val="bg1"/>
                </a:solidFill>
              </a:rPr>
              <a:t>Durge</a:t>
            </a:r>
            <a:r>
              <a:rPr lang="en-US" dirty="0">
                <a:solidFill>
                  <a:schemeClr val="bg1"/>
                </a:solidFill>
              </a:rPr>
              <a:t>, Ravi Kumar Kushwaha</a:t>
            </a:r>
            <a:endParaRPr lang="en-IN" dirty="0">
              <a:solidFill>
                <a:schemeClr val="bg1"/>
              </a:solidFill>
            </a:endParaRPr>
          </a:p>
        </p:txBody>
      </p:sp>
    </p:spTree>
    <p:extLst>
      <p:ext uri="{BB962C8B-B14F-4D97-AF65-F5344CB8AC3E}">
        <p14:creationId xmlns:p14="http://schemas.microsoft.com/office/powerpoint/2010/main" val="2000950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9" name="TextBox 8">
            <a:extLst>
              <a:ext uri="{FF2B5EF4-FFF2-40B4-BE49-F238E27FC236}">
                <a16:creationId xmlns:a16="http://schemas.microsoft.com/office/drawing/2014/main" id="{091B843F-6928-3290-2287-5FA1F531B685}"/>
              </a:ext>
            </a:extLst>
          </p:cNvPr>
          <p:cNvSpPr txBox="1"/>
          <p:nvPr/>
        </p:nvSpPr>
        <p:spPr>
          <a:xfrm>
            <a:off x="191909" y="1357570"/>
            <a:ext cx="7094128" cy="4903907"/>
          </a:xfrm>
          <a:prstGeom prst="rect">
            <a:avLst/>
          </a:prstGeom>
          <a:noFill/>
        </p:spPr>
        <p:txBody>
          <a:bodyPr wrap="square" rtlCol="0">
            <a:spAutoFit/>
          </a:bodyPr>
          <a:lstStyle/>
          <a:p>
            <a:pPr marL="231642" indent="-231642">
              <a:spcAft>
                <a:spcPts val="800"/>
              </a:spcAft>
              <a:buFont typeface="Arial" panose="020B0604020202020204" pitchFamily="34" charset="0"/>
              <a:buChar char="•"/>
            </a:pPr>
            <a:r>
              <a:rPr lang="en-US" sz="1800" dirty="0">
                <a:latin typeface="+mn-lt"/>
              </a:rPr>
              <a:t>Brief Overview:</a:t>
            </a:r>
          </a:p>
          <a:p>
            <a:pPr algn="just"/>
            <a:r>
              <a:rPr lang="en-US" sz="1800" b="0" i="0" dirty="0">
                <a:solidFill>
                  <a:srgbClr val="0D0D0D"/>
                </a:solidFill>
                <a:effectLst/>
                <a:latin typeface="ui-sans-serif"/>
              </a:rPr>
              <a:t>Solar power plants are pivotal in transitioning to clean energy, but maintaining large solar farms is challenging. Equipment failures, particularly inverter breakdowns, can significantly reduce power output and lead to financial losses. Traditional time-based maintenance schedules are often inefficient, resulting in unnecessary maintenance or unexpected failures. This case study explores the implementation of AI-driven predictive maintenance to proactively identify potential issues and optimize maintenance efforts.</a:t>
            </a:r>
          </a:p>
          <a:p>
            <a:pPr algn="just"/>
            <a:r>
              <a:rPr lang="en-US" sz="1800" b="0" i="0" dirty="0">
                <a:solidFill>
                  <a:srgbClr val="0D0D0D"/>
                </a:solidFill>
                <a:effectLst/>
                <a:latin typeface="ui-sans-serif"/>
              </a:rPr>
              <a:t>Using historical sensor data, weather conditions, and energy output metrics, predictive models can forecast equipment failures before they occur. For example, a solar farm in California reduced inverter failures and downtime by integrating machine learning algorithms, which increased energy production and lowered maintenance costs. This approach highlights how technology can enhance operational efficiency while supporting sustainability in clean energy systems.</a:t>
            </a:r>
          </a:p>
          <a:p>
            <a:pPr>
              <a:spcAft>
                <a:spcPts val="800"/>
              </a:spcAft>
            </a:pPr>
            <a:endParaRPr lang="en-US" sz="1800" dirty="0">
              <a:latin typeface="+mn-lt"/>
            </a:endParaRPr>
          </a:p>
        </p:txBody>
      </p:sp>
      <p:sp>
        <p:nvSpPr>
          <p:cNvPr id="2" name="TextBox 1">
            <a:extLst>
              <a:ext uri="{FF2B5EF4-FFF2-40B4-BE49-F238E27FC236}">
                <a16:creationId xmlns:a16="http://schemas.microsoft.com/office/drawing/2014/main" id="{687AFAD5-578C-DC2D-F127-90FF4287354D}"/>
              </a:ext>
            </a:extLst>
          </p:cNvPr>
          <p:cNvSpPr txBox="1"/>
          <p:nvPr/>
        </p:nvSpPr>
        <p:spPr>
          <a:xfrm>
            <a:off x="191909" y="870551"/>
            <a:ext cx="5904091" cy="400110"/>
          </a:xfrm>
          <a:prstGeom prst="rect">
            <a:avLst/>
          </a:prstGeom>
          <a:noFill/>
        </p:spPr>
        <p:txBody>
          <a:bodyPr wrap="square">
            <a:spAutoFit/>
          </a:bodyPr>
          <a:lstStyle/>
          <a:p>
            <a:r>
              <a:rPr lang="en-IN" sz="2000" b="1" dirty="0">
                <a:solidFill>
                  <a:srgbClr val="213163"/>
                </a:solidFill>
              </a:rPr>
              <a:t>Problem Statement</a:t>
            </a:r>
            <a:endParaRPr lang="en-IN" sz="2000" dirty="0">
              <a:solidFill>
                <a:srgbClr val="213163"/>
              </a:solidFill>
            </a:endParaRPr>
          </a:p>
        </p:txBody>
      </p:sp>
      <p:sp>
        <p:nvSpPr>
          <p:cNvPr id="6" name="TextBox 5">
            <a:extLst>
              <a:ext uri="{FF2B5EF4-FFF2-40B4-BE49-F238E27FC236}">
                <a16:creationId xmlns:a16="http://schemas.microsoft.com/office/drawing/2014/main" id="{8041DB6F-3EF1-B8E1-0B0C-6BB8EF6A90DC}"/>
              </a:ext>
            </a:extLst>
          </p:cNvPr>
          <p:cNvSpPr txBox="1"/>
          <p:nvPr/>
        </p:nvSpPr>
        <p:spPr>
          <a:xfrm>
            <a:off x="199809" y="6261477"/>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869771" y="6261477"/>
            <a:ext cx="6811189" cy="276999"/>
          </a:xfrm>
          <a:prstGeom prst="rect">
            <a:avLst/>
          </a:prstGeom>
          <a:noFill/>
        </p:spPr>
        <p:txBody>
          <a:bodyPr wrap="square" rtlCol="0">
            <a:spAutoFit/>
          </a:bodyPr>
          <a:lstStyle/>
          <a:p>
            <a:pPr>
              <a:spcAft>
                <a:spcPts val="800"/>
              </a:spcAft>
            </a:pPr>
            <a:r>
              <a:rPr lang="en-IN" sz="1200" dirty="0">
                <a:solidFill>
                  <a:srgbClr val="0000FF"/>
                </a:solidFill>
                <a:latin typeface="+mn-lt"/>
              </a:rPr>
              <a:t>https://www.powermag.com/dialing-in-data-key-to-developing-successful-predictive-maintenance/</a:t>
            </a: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57E8CF34-5680-ECF0-5CC9-969343D86846}"/>
              </a:ext>
            </a:extLst>
          </p:cNvPr>
          <p:cNvPicPr>
            <a:picLocks noChangeAspect="1"/>
          </p:cNvPicPr>
          <p:nvPr/>
        </p:nvPicPr>
        <p:blipFill>
          <a:blip r:embed="rId3"/>
          <a:stretch>
            <a:fillRect/>
          </a:stretch>
        </p:blipFill>
        <p:spPr>
          <a:xfrm>
            <a:off x="7493745" y="1925619"/>
            <a:ext cx="4322745" cy="3895294"/>
          </a:xfrm>
          <a:prstGeom prst="rect">
            <a:avLst/>
          </a:prstGeom>
        </p:spPr>
      </p:pic>
    </p:spTree>
    <p:extLst>
      <p:ext uri="{BB962C8B-B14F-4D97-AF65-F5344CB8AC3E}">
        <p14:creationId xmlns:p14="http://schemas.microsoft.com/office/powerpoint/2010/main" val="2746043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39976B2-7AED-0105-032A-04AD6F44BAA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EE028A8-AABF-D782-6BB5-EA4EB5184D7B}"/>
              </a:ext>
            </a:extLst>
          </p:cNvPr>
          <p:cNvSpPr txBox="1"/>
          <p:nvPr/>
        </p:nvSpPr>
        <p:spPr>
          <a:xfrm>
            <a:off x="191909" y="1548998"/>
            <a:ext cx="7072360" cy="4308872"/>
          </a:xfrm>
          <a:prstGeom prst="rect">
            <a:avLst/>
          </a:prstGeom>
          <a:noFill/>
        </p:spPr>
        <p:txBody>
          <a:bodyPr wrap="square" rtlCol="0">
            <a:spAutoFit/>
          </a:bodyPr>
          <a:lstStyle/>
          <a:p>
            <a:pPr algn="just"/>
            <a:r>
              <a:rPr lang="en-US" sz="1800" b="1" i="0" dirty="0">
                <a:solidFill>
                  <a:srgbClr val="0D0D0D"/>
                </a:solidFill>
                <a:effectLst/>
                <a:latin typeface="ui-sans-serif"/>
              </a:rPr>
              <a:t>Key Objectives</a:t>
            </a:r>
          </a:p>
          <a:p>
            <a:pPr algn="just"/>
            <a:endParaRPr lang="en-US" sz="1800" b="1" i="0" dirty="0">
              <a:solidFill>
                <a:srgbClr val="0D0D0D"/>
              </a:solidFill>
              <a:effectLst/>
              <a:latin typeface="ui-sans-serif"/>
            </a:endParaRPr>
          </a:p>
          <a:p>
            <a:pPr marL="36000" algn="just">
              <a:spcAft>
                <a:spcPts val="1200"/>
              </a:spcAft>
              <a:buFont typeface="+mj-lt"/>
              <a:buAutoNum type="arabicPeriod"/>
            </a:pPr>
            <a:r>
              <a:rPr lang="en-US" sz="1800" b="1" i="0" dirty="0">
                <a:solidFill>
                  <a:srgbClr val="0D0D0D"/>
                </a:solidFill>
                <a:effectLst/>
                <a:latin typeface="ui-sans-serif"/>
              </a:rPr>
              <a:t>Predict Equipment Failures</a:t>
            </a:r>
            <a:r>
              <a:rPr lang="en-US" sz="1800" b="0" i="0" dirty="0">
                <a:solidFill>
                  <a:srgbClr val="0D0D0D"/>
                </a:solidFill>
                <a:effectLst/>
                <a:latin typeface="ui-sans-serif"/>
              </a:rPr>
              <a:t>: Use historical sensor data and weather conditions to predict potential failures, focusing on inverters as a critical component.</a:t>
            </a:r>
          </a:p>
          <a:p>
            <a:pPr marL="36000" algn="just">
              <a:spcAft>
                <a:spcPts val="1200"/>
              </a:spcAft>
              <a:buFont typeface="+mj-lt"/>
              <a:buAutoNum type="arabicPeriod"/>
            </a:pPr>
            <a:r>
              <a:rPr lang="en-US" sz="1800" b="1" i="0" dirty="0">
                <a:solidFill>
                  <a:srgbClr val="0D0D0D"/>
                </a:solidFill>
                <a:effectLst/>
                <a:latin typeface="ui-sans-serif"/>
              </a:rPr>
              <a:t>Increase Energy Output</a:t>
            </a:r>
            <a:r>
              <a:rPr lang="en-US" sz="1800" b="0" i="0" dirty="0">
                <a:solidFill>
                  <a:srgbClr val="0D0D0D"/>
                </a:solidFill>
                <a:effectLst/>
                <a:latin typeface="ui-sans-serif"/>
              </a:rPr>
              <a:t>: Minimize downtime and maximize the power generated by the solar panels.</a:t>
            </a:r>
          </a:p>
          <a:p>
            <a:pPr marL="36000" algn="just">
              <a:spcAft>
                <a:spcPts val="1200"/>
              </a:spcAft>
              <a:buFont typeface="+mj-lt"/>
              <a:buAutoNum type="arabicPeriod"/>
            </a:pPr>
            <a:r>
              <a:rPr lang="en-US" sz="1800" b="1" i="0" dirty="0">
                <a:solidFill>
                  <a:srgbClr val="0D0D0D"/>
                </a:solidFill>
                <a:effectLst/>
                <a:latin typeface="ui-sans-serif"/>
              </a:rPr>
              <a:t>Reduce Maintenance Costs</a:t>
            </a:r>
            <a:r>
              <a:rPr lang="en-US" sz="1800" b="0" i="0" dirty="0">
                <a:solidFill>
                  <a:srgbClr val="0D0D0D"/>
                </a:solidFill>
                <a:effectLst/>
                <a:latin typeface="ui-sans-serif"/>
              </a:rPr>
              <a:t>: Transition from reactive to predictive maintenance to optimize resource allocation.</a:t>
            </a:r>
          </a:p>
          <a:p>
            <a:pPr marL="36000" algn="just">
              <a:spcAft>
                <a:spcPts val="1200"/>
              </a:spcAft>
              <a:buFont typeface="+mj-lt"/>
              <a:buAutoNum type="arabicPeriod"/>
            </a:pPr>
            <a:r>
              <a:rPr lang="en-US" sz="1800" b="1" i="0" dirty="0">
                <a:solidFill>
                  <a:srgbClr val="0D0D0D"/>
                </a:solidFill>
                <a:effectLst/>
                <a:latin typeface="ui-sans-serif"/>
              </a:rPr>
              <a:t>Enhance Sustainability</a:t>
            </a:r>
            <a:r>
              <a:rPr lang="en-US" sz="1800" b="0" i="0" dirty="0">
                <a:solidFill>
                  <a:srgbClr val="0D0D0D"/>
                </a:solidFill>
                <a:effectLst/>
                <a:latin typeface="ui-sans-serif"/>
              </a:rPr>
              <a:t>: Reduce waste and the carbon footprint associated with traditional maintenance methods.</a:t>
            </a:r>
          </a:p>
          <a:p>
            <a:pPr marL="36000" algn="just">
              <a:spcAft>
                <a:spcPts val="1200"/>
              </a:spcAft>
              <a:buFont typeface="+mj-lt"/>
              <a:buAutoNum type="arabicPeriod"/>
            </a:pPr>
            <a:r>
              <a:rPr lang="en-US" sz="1800" b="1" i="0" dirty="0">
                <a:solidFill>
                  <a:srgbClr val="0D0D0D"/>
                </a:solidFill>
                <a:effectLst/>
                <a:latin typeface="ui-sans-serif"/>
              </a:rPr>
              <a:t>Improve Model Accuracy</a:t>
            </a:r>
            <a:r>
              <a:rPr lang="en-US" sz="1800" b="0" i="0" dirty="0">
                <a:solidFill>
                  <a:srgbClr val="0D0D0D"/>
                </a:solidFill>
                <a:effectLst/>
                <a:latin typeface="ui-sans-serif"/>
              </a:rPr>
              <a:t>: Develop and refine machine learning models for reliable predictions.</a:t>
            </a:r>
          </a:p>
        </p:txBody>
      </p:sp>
      <p:sp>
        <p:nvSpPr>
          <p:cNvPr id="2" name="TextBox 1">
            <a:extLst>
              <a:ext uri="{FF2B5EF4-FFF2-40B4-BE49-F238E27FC236}">
                <a16:creationId xmlns:a16="http://schemas.microsoft.com/office/drawing/2014/main" id="{0AAA4171-6252-6F48-D1A2-ACD993E6BA29}"/>
              </a:ext>
            </a:extLst>
          </p:cNvPr>
          <p:cNvSpPr txBox="1"/>
          <p:nvPr/>
        </p:nvSpPr>
        <p:spPr>
          <a:xfrm>
            <a:off x="191909" y="951399"/>
            <a:ext cx="5904091" cy="400110"/>
          </a:xfrm>
          <a:prstGeom prst="rect">
            <a:avLst/>
          </a:prstGeom>
          <a:noFill/>
        </p:spPr>
        <p:txBody>
          <a:bodyPr wrap="square">
            <a:spAutoFit/>
          </a:bodyPr>
          <a:lstStyle/>
          <a:p>
            <a:r>
              <a:rPr lang="en-IN" sz="2000" b="1" dirty="0">
                <a:solidFill>
                  <a:srgbClr val="213163"/>
                </a:solidFill>
              </a:rPr>
              <a:t>Problem Statement</a:t>
            </a:r>
            <a:endParaRPr lang="en-IN" sz="2000" dirty="0">
              <a:solidFill>
                <a:srgbClr val="213163"/>
              </a:solidFill>
            </a:endParaRPr>
          </a:p>
        </p:txBody>
      </p:sp>
      <p:sp>
        <p:nvSpPr>
          <p:cNvPr id="6" name="TextBox 5">
            <a:extLst>
              <a:ext uri="{FF2B5EF4-FFF2-40B4-BE49-F238E27FC236}">
                <a16:creationId xmlns:a16="http://schemas.microsoft.com/office/drawing/2014/main" id="{D7AADA3D-79B1-A8D3-BBBD-FE70B867764F}"/>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D743856F-EEC5-C50E-DF1E-E03048FFC1D5}"/>
              </a:ext>
            </a:extLst>
          </p:cNvPr>
          <p:cNvSpPr txBox="1"/>
          <p:nvPr/>
        </p:nvSpPr>
        <p:spPr>
          <a:xfrm>
            <a:off x="880529" y="6135329"/>
            <a:ext cx="2983900" cy="276999"/>
          </a:xfrm>
          <a:prstGeom prst="rect">
            <a:avLst/>
          </a:prstGeom>
          <a:noFill/>
        </p:spPr>
        <p:txBody>
          <a:bodyPr wrap="square" rtlCol="0">
            <a:spAutoFit/>
          </a:bodyPr>
          <a:lstStyle/>
          <a:p>
            <a:pPr>
              <a:spcAft>
                <a:spcPts val="800"/>
              </a:spcAft>
            </a:pPr>
            <a:r>
              <a:rPr lang="en-IN" sz="1200" dirty="0">
                <a:solidFill>
                  <a:srgbClr val="0000FF"/>
                </a:solidFill>
                <a:latin typeface="+mn-lt"/>
              </a:rPr>
              <a:t>https://app.diagrams.net/</a:t>
            </a:r>
          </a:p>
        </p:txBody>
      </p:sp>
      <p:cxnSp>
        <p:nvCxnSpPr>
          <p:cNvPr id="12" name="Straight Connector 11">
            <a:extLst>
              <a:ext uri="{FF2B5EF4-FFF2-40B4-BE49-F238E27FC236}">
                <a16:creationId xmlns:a16="http://schemas.microsoft.com/office/drawing/2014/main" id="{9D1D00C8-E4BA-FBCC-43F0-343BEBF17027}"/>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56965AA-63FB-66C3-4418-8A449EF369FF}"/>
              </a:ext>
            </a:extLst>
          </p:cNvPr>
          <p:cNvPicPr>
            <a:picLocks noChangeAspect="1"/>
          </p:cNvPicPr>
          <p:nvPr/>
        </p:nvPicPr>
        <p:blipFill>
          <a:blip r:embed="rId3"/>
          <a:stretch>
            <a:fillRect/>
          </a:stretch>
        </p:blipFill>
        <p:spPr>
          <a:xfrm>
            <a:off x="7628842" y="917140"/>
            <a:ext cx="4010025" cy="4634574"/>
          </a:xfrm>
          <a:prstGeom prst="rect">
            <a:avLst/>
          </a:prstGeom>
        </p:spPr>
      </p:pic>
      <p:sp>
        <p:nvSpPr>
          <p:cNvPr id="10" name="TextBox 9">
            <a:extLst>
              <a:ext uri="{FF2B5EF4-FFF2-40B4-BE49-F238E27FC236}">
                <a16:creationId xmlns:a16="http://schemas.microsoft.com/office/drawing/2014/main" id="{F52CD8C8-8FF4-09A3-4A7A-838625F06D4D}"/>
              </a:ext>
            </a:extLst>
          </p:cNvPr>
          <p:cNvSpPr txBox="1"/>
          <p:nvPr/>
        </p:nvSpPr>
        <p:spPr>
          <a:xfrm>
            <a:off x="8228989" y="5668042"/>
            <a:ext cx="2809729" cy="379656"/>
          </a:xfrm>
          <a:prstGeom prst="rect">
            <a:avLst/>
          </a:prstGeom>
          <a:noFill/>
        </p:spPr>
        <p:txBody>
          <a:bodyPr wrap="square" rtlCol="0">
            <a:spAutoFit/>
          </a:bodyPr>
          <a:lstStyle/>
          <a:p>
            <a:r>
              <a:rPr lang="en-US" dirty="0"/>
              <a:t>Steps in Model Training</a:t>
            </a:r>
            <a:endParaRPr lang="en-IN" dirty="0"/>
          </a:p>
        </p:txBody>
      </p:sp>
    </p:spTree>
    <p:extLst>
      <p:ext uri="{BB962C8B-B14F-4D97-AF65-F5344CB8AC3E}">
        <p14:creationId xmlns:p14="http://schemas.microsoft.com/office/powerpoint/2010/main" val="1551642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687AFAD5-578C-DC2D-F127-90FF4287354D}"/>
              </a:ext>
            </a:extLst>
          </p:cNvPr>
          <p:cNvSpPr txBox="1"/>
          <p:nvPr/>
        </p:nvSpPr>
        <p:spPr>
          <a:xfrm>
            <a:off x="191909" y="826317"/>
            <a:ext cx="5904091" cy="400110"/>
          </a:xfrm>
          <a:prstGeom prst="rect">
            <a:avLst/>
          </a:prstGeom>
          <a:noFill/>
        </p:spPr>
        <p:txBody>
          <a:bodyPr wrap="square">
            <a:spAutoFit/>
          </a:bodyPr>
          <a:lstStyle/>
          <a:p>
            <a:r>
              <a:rPr lang="en-IN" sz="2000" b="1" dirty="0">
                <a:solidFill>
                  <a:srgbClr val="213163"/>
                </a:solidFill>
              </a:rPr>
              <a:t>Dataset Overview</a:t>
            </a:r>
            <a:endParaRPr lang="en-IN" sz="2000" dirty="0">
              <a:solidFill>
                <a:srgbClr val="213163"/>
              </a:solidFill>
            </a:endParaRPr>
          </a:p>
        </p:txBody>
      </p:sp>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902044" y="6150718"/>
            <a:ext cx="5422555" cy="276999"/>
          </a:xfrm>
          <a:prstGeom prst="rect">
            <a:avLst/>
          </a:prstGeom>
          <a:noFill/>
        </p:spPr>
        <p:txBody>
          <a:bodyPr wrap="square" rtlCol="0">
            <a:spAutoFit/>
          </a:bodyPr>
          <a:lstStyle/>
          <a:p>
            <a:pPr>
              <a:spcAft>
                <a:spcPts val="800"/>
              </a:spcAft>
            </a:pPr>
            <a:r>
              <a:rPr lang="en-IN" sz="1200" dirty="0">
                <a:solidFill>
                  <a:srgbClr val="0000FF"/>
                </a:solidFill>
                <a:latin typeface="+mn-lt"/>
              </a:rPr>
              <a:t>https://www.kaggle.com/datasets/anikannal/solar-power-generation-data</a:t>
            </a: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Rectangle 2">
            <a:extLst>
              <a:ext uri="{FF2B5EF4-FFF2-40B4-BE49-F238E27FC236}">
                <a16:creationId xmlns:a16="http://schemas.microsoft.com/office/drawing/2014/main" id="{56A85C6D-CC53-C4F2-477A-78F0C106F5A6}"/>
              </a:ext>
            </a:extLst>
          </p:cNvPr>
          <p:cNvSpPr>
            <a:spLocks noChangeArrowheads="1"/>
          </p:cNvSpPr>
          <p:nvPr/>
        </p:nvSpPr>
        <p:spPr bwMode="auto">
          <a:xfrm>
            <a:off x="199809" y="1183642"/>
            <a:ext cx="11392348" cy="47089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D0D0D"/>
                </a:solidFill>
                <a:effectLst/>
                <a:latin typeface="ui-sans-serif"/>
              </a:rPr>
              <a:t>Source</a:t>
            </a:r>
            <a:r>
              <a:rPr kumimoji="0" lang="en-US" altLang="en-US" sz="1800" b="0" i="0" u="none" strike="noStrike" cap="none" normalizeH="0" baseline="0" dirty="0">
                <a:ln>
                  <a:noFill/>
                </a:ln>
                <a:solidFill>
                  <a:srgbClr val="0D0D0D"/>
                </a:solidFill>
                <a:effectLst/>
                <a:latin typeface="ui-sans-serif"/>
              </a:rPr>
              <a:t>: Data sourced from a solar power plant’s energy generation and weather sensor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D0D0D"/>
                </a:solidFill>
                <a:effectLst/>
                <a:latin typeface="ui-sans-serif"/>
              </a:rPr>
              <a:t>Size</a:t>
            </a:r>
            <a:r>
              <a:rPr kumimoji="0" lang="en-US" altLang="en-US" sz="1800" b="0" i="0" u="none" strike="noStrike" cap="none" normalizeH="0" baseline="0" dirty="0">
                <a:ln>
                  <a:noFill/>
                </a:ln>
                <a:solidFill>
                  <a:srgbClr val="0D0D0D"/>
                </a:solidFill>
                <a:effectLst/>
                <a:latin typeface="ui-sans-serif"/>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rgbClr val="0D0D0D"/>
                </a:solidFill>
                <a:effectLst/>
                <a:latin typeface="ui-sans-serif"/>
              </a:rPr>
              <a:t>Plant_1_Generation_Data (1).csv</a:t>
            </a:r>
            <a:r>
              <a:rPr kumimoji="0" lang="en-US" altLang="en-US" sz="1800" b="0" i="0" u="none" strike="noStrike" cap="none" normalizeH="0" baseline="0" dirty="0">
                <a:ln>
                  <a:noFill/>
                </a:ln>
                <a:solidFill>
                  <a:srgbClr val="0D0D0D"/>
                </a:solidFill>
                <a:effectLst/>
                <a:latin typeface="ui-sans-serif"/>
              </a:rPr>
              <a:t>: 68,778 rows × 7 columns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rgbClr val="0D0D0D"/>
                </a:solidFill>
                <a:effectLst/>
                <a:latin typeface="ui-sans-serif"/>
              </a:rPr>
              <a:t>Plant_1_Weather_Sensor_Data.csv</a:t>
            </a:r>
            <a:r>
              <a:rPr kumimoji="0" lang="en-US" altLang="en-US" sz="1800" b="0" i="0" u="none" strike="noStrike" cap="none" normalizeH="0" baseline="0" dirty="0">
                <a:ln>
                  <a:noFill/>
                </a:ln>
                <a:solidFill>
                  <a:srgbClr val="0D0D0D"/>
                </a:solidFill>
                <a:effectLst/>
                <a:latin typeface="ui-sans-serif"/>
              </a:rPr>
              <a:t>: 3,182 rows × 6 columns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D0D0D"/>
                </a:solidFill>
                <a:effectLst/>
                <a:latin typeface="ui-sans-serif"/>
              </a:rPr>
              <a:t>Key Features</a:t>
            </a:r>
            <a:r>
              <a:rPr kumimoji="0" lang="en-US" altLang="en-US" sz="1800" b="0" i="0" u="none" strike="noStrike" cap="none" normalizeH="0" baseline="0" dirty="0">
                <a:ln>
                  <a:noFill/>
                </a:ln>
                <a:solidFill>
                  <a:srgbClr val="0D0D0D"/>
                </a:solidFill>
                <a:effectLst/>
                <a:latin typeface="ui-sans-serif"/>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rgbClr val="0D0D0D"/>
                </a:solidFill>
                <a:effectLst/>
                <a:latin typeface="ui-sans-serif"/>
              </a:rPr>
              <a:t>Generation Data</a:t>
            </a:r>
            <a:r>
              <a:rPr kumimoji="0" lang="en-US" altLang="en-US" sz="1800" b="0" i="0" u="none" strike="noStrike" cap="none" normalizeH="0" baseline="0" dirty="0">
                <a:ln>
                  <a:noFill/>
                </a:ln>
                <a:solidFill>
                  <a:srgbClr val="0D0D0D"/>
                </a:solidFill>
                <a:effectLst/>
                <a:latin typeface="ui-sans-serif"/>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D0D0D"/>
                </a:solidFill>
                <a:effectLst/>
                <a:latin typeface="ui-monospace"/>
              </a:rPr>
              <a:t>DATE_TIME</a:t>
            </a:r>
            <a:r>
              <a:rPr kumimoji="0" lang="en-US" altLang="en-US" sz="1800" b="0" i="0" u="none" strike="noStrike" cap="none" normalizeH="0" baseline="0" dirty="0">
                <a:ln>
                  <a:noFill/>
                </a:ln>
                <a:solidFill>
                  <a:srgbClr val="0D0D0D"/>
                </a:solidFill>
                <a:effectLst/>
                <a:latin typeface="ui-sans-serif"/>
              </a:rPr>
              <a:t>: Timestamp of the data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D0D0D"/>
                </a:solidFill>
                <a:effectLst/>
                <a:latin typeface="ui-monospace"/>
              </a:rPr>
              <a:t>DC_POWER</a:t>
            </a:r>
            <a:r>
              <a:rPr kumimoji="0" lang="en-US" altLang="en-US" sz="1800" b="0" i="0" u="none" strike="noStrike" cap="none" normalizeH="0" baseline="0" dirty="0">
                <a:ln>
                  <a:noFill/>
                </a:ln>
                <a:solidFill>
                  <a:srgbClr val="0D0D0D"/>
                </a:solidFill>
                <a:effectLst/>
                <a:latin typeface="ui-sans-serif"/>
              </a:rPr>
              <a:t>: Direct current power from the solar panels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D0D0D"/>
                </a:solidFill>
                <a:effectLst/>
                <a:latin typeface="ui-monospace"/>
              </a:rPr>
              <a:t>AC_POWER</a:t>
            </a:r>
            <a:r>
              <a:rPr kumimoji="0" lang="en-US" altLang="en-US" sz="1800" b="0" i="0" u="none" strike="noStrike" cap="none" normalizeH="0" baseline="0" dirty="0">
                <a:ln>
                  <a:noFill/>
                </a:ln>
                <a:solidFill>
                  <a:srgbClr val="0D0D0D"/>
                </a:solidFill>
                <a:effectLst/>
                <a:latin typeface="ui-sans-serif"/>
              </a:rPr>
              <a:t>: Alternating current power from the inverter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D0D0D"/>
                </a:solidFill>
                <a:effectLst/>
                <a:latin typeface="ui-monospace"/>
              </a:rPr>
              <a:t>DAILY_YIELD</a:t>
            </a:r>
            <a:r>
              <a:rPr kumimoji="0" lang="en-US" altLang="en-US" sz="1800" b="0" i="0" u="none" strike="noStrike" cap="none" normalizeH="0" baseline="0" dirty="0">
                <a:ln>
                  <a:noFill/>
                </a:ln>
                <a:solidFill>
                  <a:srgbClr val="0D0D0D"/>
                </a:solidFill>
                <a:effectLst/>
                <a:latin typeface="ui-sans-serif"/>
              </a:rPr>
              <a:t>: Daily energy production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D0D0D"/>
                </a:solidFill>
                <a:effectLst/>
                <a:latin typeface="ui-monospace"/>
              </a:rPr>
              <a:t>TOTAL_YIELD</a:t>
            </a:r>
            <a:r>
              <a:rPr kumimoji="0" lang="en-US" altLang="en-US" sz="1800" b="0" i="0" u="none" strike="noStrike" cap="none" normalizeH="0" baseline="0" dirty="0">
                <a:ln>
                  <a:noFill/>
                </a:ln>
                <a:solidFill>
                  <a:srgbClr val="0D0D0D"/>
                </a:solidFill>
                <a:effectLst/>
                <a:latin typeface="ui-sans-serif"/>
              </a:rPr>
              <a:t>: Total energy accumulated over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rgbClr val="0D0D0D"/>
                </a:solidFill>
                <a:effectLst/>
                <a:latin typeface="ui-sans-serif"/>
              </a:rPr>
              <a:t>Weather Data</a:t>
            </a:r>
            <a:r>
              <a:rPr kumimoji="0" lang="en-US" altLang="en-US" sz="1800" b="0" i="0" u="none" strike="noStrike" cap="none" normalizeH="0" baseline="0" dirty="0">
                <a:ln>
                  <a:noFill/>
                </a:ln>
                <a:solidFill>
                  <a:srgbClr val="0D0D0D"/>
                </a:solidFill>
                <a:effectLst/>
                <a:latin typeface="ui-sans-serif"/>
              </a:rPr>
              <a:t>:</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rgbClr val="0D0D0D"/>
                </a:solidFill>
                <a:latin typeface="ui-monospace"/>
              </a:rPr>
              <a:t>           </a:t>
            </a:r>
            <a:r>
              <a:rPr kumimoji="0" lang="en-US" altLang="en-US" sz="1800" b="0" i="0" u="none" strike="noStrike" cap="none" normalizeH="0" baseline="0" dirty="0">
                <a:ln>
                  <a:noFill/>
                </a:ln>
                <a:solidFill>
                  <a:srgbClr val="0D0D0D"/>
                </a:solidFill>
                <a:effectLst/>
                <a:latin typeface="ui-monospace"/>
              </a:rPr>
              <a:t>AMBIENT_TEMPERATURE</a:t>
            </a:r>
            <a:r>
              <a:rPr kumimoji="0" lang="en-US" altLang="en-US" sz="1800" b="0" i="0" u="none" strike="noStrike" cap="none" normalizeH="0" baseline="0" dirty="0">
                <a:ln>
                  <a:noFill/>
                </a:ln>
                <a:solidFill>
                  <a:srgbClr val="0D0D0D"/>
                </a:solidFill>
                <a:effectLst/>
                <a:latin typeface="ui-sans-serif"/>
              </a:rPr>
              <a:t>: Temperature at the plant site</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D0D0D"/>
                </a:solidFill>
                <a:effectLst/>
                <a:latin typeface="ui-monospace"/>
              </a:rPr>
              <a:t>  MODULE_TEMPERATURE</a:t>
            </a:r>
            <a:r>
              <a:rPr kumimoji="0" lang="en-US" altLang="en-US" sz="1800" b="0" i="0" u="none" strike="noStrike" cap="none" normalizeH="0" baseline="0" dirty="0">
                <a:ln>
                  <a:noFill/>
                </a:ln>
                <a:solidFill>
                  <a:srgbClr val="0D0D0D"/>
                </a:solidFill>
                <a:effectLst/>
                <a:latin typeface="ui-sans-serif"/>
              </a:rPr>
              <a:t>: Temperature of the solar modules</a:t>
            </a:r>
          </a:p>
          <a:p>
            <a:pPr marL="457200" marR="0" lvl="1"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0D0D0D"/>
                </a:solidFill>
                <a:effectLst/>
                <a:latin typeface="ui-monospace"/>
              </a:rPr>
              <a:t>  IRRADIATION</a:t>
            </a:r>
            <a:r>
              <a:rPr kumimoji="0" lang="en-US" altLang="en-US" sz="1800" b="0" i="0" u="none" strike="noStrike" cap="none" normalizeH="0" baseline="0" dirty="0">
                <a:ln>
                  <a:noFill/>
                </a:ln>
                <a:solidFill>
                  <a:srgbClr val="0D0D0D"/>
                </a:solidFill>
                <a:effectLst/>
                <a:latin typeface="ui-sans-serif"/>
              </a:rPr>
              <a:t>: Solar irradiation, indicating sunlight exposure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D0D0D"/>
                </a:solidFill>
                <a:effectLst/>
                <a:latin typeface="ui-sans-serif"/>
              </a:rPr>
              <a:t>Use</a:t>
            </a:r>
            <a:r>
              <a:rPr kumimoji="0" lang="en-US" altLang="en-US" sz="1800" b="0" i="0" u="none" strike="noStrike" cap="none" normalizeH="0" baseline="0" dirty="0">
                <a:ln>
                  <a:noFill/>
                </a:ln>
                <a:solidFill>
                  <a:srgbClr val="0D0D0D"/>
                </a:solidFill>
                <a:effectLst/>
                <a:latin typeface="ui-sans-serif"/>
              </a:rPr>
              <a:t>: This data is used to predict potential inverter failures by analyzing power generation, weather conditions, and historical data trends.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6628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687AFAD5-578C-DC2D-F127-90FF4287354D}"/>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Methodology</a:t>
            </a:r>
            <a:endParaRPr lang="en-IN" sz="2000" dirty="0">
              <a:solidFill>
                <a:srgbClr val="213163"/>
              </a:solidFill>
            </a:endParaRPr>
          </a:p>
        </p:txBody>
      </p:sp>
      <p:sp>
        <p:nvSpPr>
          <p:cNvPr id="6" name="TextBox 5">
            <a:extLst>
              <a:ext uri="{FF2B5EF4-FFF2-40B4-BE49-F238E27FC236}">
                <a16:creationId xmlns:a16="http://schemas.microsoft.com/office/drawing/2014/main" id="{8041DB6F-3EF1-B8E1-0B0C-6BB8EF6A90D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7EA2C555-3BC3-F99C-66A0-2DF7D76A6867}"/>
              </a:ext>
            </a:extLst>
          </p:cNvPr>
          <p:cNvSpPr txBox="1"/>
          <p:nvPr/>
        </p:nvSpPr>
        <p:spPr>
          <a:xfrm>
            <a:off x="995680" y="6128752"/>
            <a:ext cx="4360091" cy="276999"/>
          </a:xfrm>
          <a:prstGeom prst="rect">
            <a:avLst/>
          </a:prstGeom>
          <a:noFill/>
        </p:spPr>
        <p:txBody>
          <a:bodyPr wrap="square" rtlCol="0">
            <a:spAutoFit/>
          </a:bodyPr>
          <a:lstStyle/>
          <a:p>
            <a:pPr>
              <a:spcAft>
                <a:spcPts val="800"/>
              </a:spcAft>
            </a:pPr>
            <a:r>
              <a:rPr lang="en-IN" sz="1200" dirty="0">
                <a:solidFill>
                  <a:srgbClr val="0000FF"/>
                </a:solidFill>
                <a:latin typeface="+mn-lt"/>
              </a:rPr>
              <a:t>https://www.geeksforgeeks.org/sklearn-classification-metrics/</a:t>
            </a:r>
          </a:p>
        </p:txBody>
      </p:sp>
      <p:cxnSp>
        <p:nvCxnSpPr>
          <p:cNvPr id="12" name="Straight Connector 11">
            <a:extLst>
              <a:ext uri="{FF2B5EF4-FFF2-40B4-BE49-F238E27FC236}">
                <a16:creationId xmlns:a16="http://schemas.microsoft.com/office/drawing/2014/main" id="{1365C893-2FDF-21FF-3B51-777D91501B7C}"/>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ctangle 4">
            <a:extLst>
              <a:ext uri="{FF2B5EF4-FFF2-40B4-BE49-F238E27FC236}">
                <a16:creationId xmlns:a16="http://schemas.microsoft.com/office/drawing/2014/main" id="{D259369D-503D-C5C4-2F82-1284C48A48A6}"/>
              </a:ext>
            </a:extLst>
          </p:cNvPr>
          <p:cNvSpPr>
            <a:spLocks noChangeArrowheads="1"/>
          </p:cNvSpPr>
          <p:nvPr/>
        </p:nvSpPr>
        <p:spPr bwMode="auto">
          <a:xfrm>
            <a:off x="299615" y="1452615"/>
            <a:ext cx="10888337" cy="43399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98375"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ts val="60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Approach</a:t>
            </a:r>
          </a:p>
          <a:p>
            <a:pPr marL="0" marR="0" lvl="0" indent="0" algn="just" defTabSz="914400" rtl="0" eaLnBrk="0" fontAlgn="base" latinLnBrk="0" hangingPunct="0">
              <a:lnSpc>
                <a:spcPct val="100000"/>
              </a:lnSpc>
              <a:spcBef>
                <a:spcPct val="0"/>
              </a:spcBef>
              <a:spcAft>
                <a:spcPts val="600"/>
              </a:spcAft>
              <a:buClrTx/>
              <a:buSzTx/>
              <a:buFontTx/>
              <a:buAutoNum type="arabicPeriod"/>
              <a:tabLst/>
            </a:pPr>
            <a:r>
              <a:rPr kumimoji="0" lang="en-US" altLang="en-US" sz="1800" b="1" i="0" u="none" strike="noStrike" cap="none" normalizeH="0" baseline="0" dirty="0">
                <a:ln>
                  <a:noFill/>
                </a:ln>
                <a:solidFill>
                  <a:srgbClr val="0D0D0D"/>
                </a:solidFill>
                <a:effectLst/>
                <a:latin typeface="ui-sans-serif"/>
              </a:rPr>
              <a:t>Data Collection</a:t>
            </a:r>
            <a:r>
              <a:rPr kumimoji="0" lang="en-US" altLang="en-US" sz="1800" b="0" i="0" u="none" strike="noStrike" cap="none" normalizeH="0" baseline="0" dirty="0">
                <a:ln>
                  <a:noFill/>
                </a:ln>
                <a:solidFill>
                  <a:srgbClr val="0D0D0D"/>
                </a:solidFill>
                <a:effectLst/>
                <a:latin typeface="ui-sans-serif"/>
              </a:rPr>
              <a:t>: Collected data from the solar plant’s energy generation and weather sensors, including power output, temperature, and irradiation.</a:t>
            </a:r>
          </a:p>
          <a:p>
            <a:pPr marL="0" marR="0" lvl="0" indent="0" algn="just" defTabSz="914400" rtl="0" eaLnBrk="0" fontAlgn="base" latinLnBrk="0" hangingPunct="0">
              <a:lnSpc>
                <a:spcPct val="100000"/>
              </a:lnSpc>
              <a:spcBef>
                <a:spcPct val="0"/>
              </a:spcBef>
              <a:spcAft>
                <a:spcPts val="600"/>
              </a:spcAft>
              <a:buClrTx/>
              <a:buSzTx/>
              <a:buFontTx/>
              <a:buAutoNum type="arabicPeriod" startAt="2"/>
              <a:tabLst/>
            </a:pPr>
            <a:r>
              <a:rPr kumimoji="0" lang="en-US" altLang="en-US" sz="1800" b="1" i="0" u="none" strike="noStrike" cap="none" normalizeH="0" baseline="0" dirty="0">
                <a:ln>
                  <a:noFill/>
                </a:ln>
                <a:solidFill>
                  <a:srgbClr val="0D0D0D"/>
                </a:solidFill>
                <a:effectLst/>
                <a:latin typeface="ui-sans-serif"/>
              </a:rPr>
              <a:t>Data Preprocessing</a:t>
            </a:r>
            <a:r>
              <a:rPr kumimoji="0" lang="en-US" altLang="en-US" sz="1800" b="0" i="0" u="none" strike="noStrike" cap="none" normalizeH="0" baseline="0" dirty="0">
                <a:ln>
                  <a:noFill/>
                </a:ln>
                <a:solidFill>
                  <a:srgbClr val="0D0D0D"/>
                </a:solidFill>
                <a:effectLst/>
                <a:latin typeface="ui-sans-serif"/>
              </a:rPr>
              <a:t>: Handled missing values, sampled the data, and converted time-series data (e.g., </a:t>
            </a:r>
            <a:r>
              <a:rPr kumimoji="0" lang="en-US" altLang="en-US" sz="1800" b="0" i="0" u="none" strike="noStrike" cap="none" normalizeH="0" baseline="0" dirty="0">
                <a:ln>
                  <a:noFill/>
                </a:ln>
                <a:solidFill>
                  <a:srgbClr val="0D0D0D"/>
                </a:solidFill>
                <a:effectLst/>
                <a:latin typeface="ui-monospace"/>
              </a:rPr>
              <a:t>DATE_TIME</a:t>
            </a:r>
            <a:r>
              <a:rPr kumimoji="0" lang="en-US" altLang="en-US" sz="1800" b="0" i="0" u="none" strike="noStrike" cap="none" normalizeH="0" baseline="0" dirty="0">
                <a:ln>
                  <a:noFill/>
                </a:ln>
                <a:solidFill>
                  <a:srgbClr val="0D0D0D"/>
                </a:solidFill>
                <a:effectLst/>
                <a:latin typeface="ui-sans-serif"/>
              </a:rPr>
              <a:t>) into a usable format.</a:t>
            </a:r>
          </a:p>
          <a:p>
            <a:pPr marL="0" marR="0" lvl="0" indent="0" algn="just" defTabSz="914400" rtl="0" eaLnBrk="0" fontAlgn="base" latinLnBrk="0" hangingPunct="0">
              <a:lnSpc>
                <a:spcPct val="100000"/>
              </a:lnSpc>
              <a:spcBef>
                <a:spcPct val="0"/>
              </a:spcBef>
              <a:spcAft>
                <a:spcPts val="600"/>
              </a:spcAft>
              <a:buClrTx/>
              <a:buSzTx/>
              <a:buFontTx/>
              <a:buAutoNum type="arabicPeriod" startAt="3"/>
              <a:tabLst/>
            </a:pPr>
            <a:r>
              <a:rPr kumimoji="0" lang="en-US" altLang="en-US" sz="1800" b="1" i="0" u="none" strike="noStrike" cap="none" normalizeH="0" baseline="0" dirty="0">
                <a:ln>
                  <a:noFill/>
                </a:ln>
                <a:solidFill>
                  <a:srgbClr val="0D0D0D"/>
                </a:solidFill>
                <a:effectLst/>
                <a:latin typeface="ui-sans-serif"/>
              </a:rPr>
              <a:t>Feature Engineering</a:t>
            </a:r>
            <a:r>
              <a:rPr kumimoji="0" lang="en-US" altLang="en-US" sz="1800" b="0" i="0" u="none" strike="noStrike" cap="none" normalizeH="0" baseline="0" dirty="0">
                <a:ln>
                  <a:noFill/>
                </a:ln>
                <a:solidFill>
                  <a:srgbClr val="0D0D0D"/>
                </a:solidFill>
                <a:effectLst/>
                <a:latin typeface="ui-sans-serif"/>
              </a:rPr>
              <a:t>: Selected relevant features (DC/AC power, temperature) and created derived features like moving averages to improve predictions.</a:t>
            </a:r>
          </a:p>
          <a:p>
            <a:pPr marL="0" marR="0" lvl="0" indent="0" algn="just" defTabSz="914400" rtl="0" eaLnBrk="0" fontAlgn="base" latinLnBrk="0" hangingPunct="0">
              <a:lnSpc>
                <a:spcPct val="100000"/>
              </a:lnSpc>
              <a:spcBef>
                <a:spcPct val="0"/>
              </a:spcBef>
              <a:spcAft>
                <a:spcPts val="600"/>
              </a:spcAft>
              <a:buClrTx/>
              <a:buSzTx/>
              <a:buFontTx/>
              <a:buAutoNum type="arabicPeriod" startAt="4"/>
              <a:tabLst/>
            </a:pPr>
            <a:r>
              <a:rPr kumimoji="0" lang="en-US" altLang="en-US" sz="1800" b="1" i="0" u="none" strike="noStrike" cap="none" normalizeH="0" baseline="0" dirty="0">
                <a:ln>
                  <a:noFill/>
                </a:ln>
                <a:solidFill>
                  <a:srgbClr val="0D0D0D"/>
                </a:solidFill>
                <a:effectLst/>
                <a:latin typeface="ui-sans-serif"/>
              </a:rPr>
              <a:t>Model Development</a:t>
            </a:r>
            <a:r>
              <a:rPr kumimoji="0" lang="en-US" altLang="en-US" sz="1800" b="0" i="0" u="none" strike="noStrike" cap="none" normalizeH="0" baseline="0" dirty="0">
                <a:ln>
                  <a:noFill/>
                </a:ln>
                <a:solidFill>
                  <a:srgbClr val="0D0D0D"/>
                </a:solidFill>
                <a:effectLst/>
                <a:latin typeface="ui-sans-serif"/>
              </a:rPr>
              <a:t>: Trained a machine learning model on historical data, splitting the data into training and testing sets.</a:t>
            </a:r>
          </a:p>
          <a:p>
            <a:pPr marL="0" marR="0" lvl="0" indent="0" algn="just" defTabSz="914400" rtl="0" eaLnBrk="0" fontAlgn="base" latinLnBrk="0" hangingPunct="0">
              <a:lnSpc>
                <a:spcPct val="100000"/>
              </a:lnSpc>
              <a:spcBef>
                <a:spcPct val="0"/>
              </a:spcBef>
              <a:spcAft>
                <a:spcPts val="600"/>
              </a:spcAft>
              <a:buClrTx/>
              <a:buSzTx/>
              <a:buFontTx/>
              <a:buAutoNum type="arabicPeriod" startAt="5"/>
              <a:tabLst/>
            </a:pPr>
            <a:r>
              <a:rPr kumimoji="0" lang="en-US" altLang="en-US" sz="1800" b="1" i="0" u="none" strike="noStrike" cap="none" normalizeH="0" baseline="0" dirty="0">
                <a:ln>
                  <a:noFill/>
                </a:ln>
                <a:solidFill>
                  <a:srgbClr val="0D0D0D"/>
                </a:solidFill>
                <a:effectLst/>
                <a:latin typeface="ui-sans-serif"/>
              </a:rPr>
              <a:t>Model Evaluation</a:t>
            </a:r>
            <a:r>
              <a:rPr kumimoji="0" lang="en-US" altLang="en-US" sz="1800" b="0" i="0" u="none" strike="noStrike" cap="none" normalizeH="0" baseline="0" dirty="0">
                <a:ln>
                  <a:noFill/>
                </a:ln>
                <a:solidFill>
                  <a:srgbClr val="0D0D0D"/>
                </a:solidFill>
                <a:effectLst/>
                <a:latin typeface="ui-sans-serif"/>
              </a:rPr>
              <a:t>: Evaluated the model using accuracy, precision, and recall, and fine-tuned to improve performance.</a:t>
            </a:r>
          </a:p>
          <a:p>
            <a:pPr marL="0" marR="0" lvl="0" indent="0" algn="just" defTabSz="914400" rtl="0" eaLnBrk="0" fontAlgn="base" latinLnBrk="0" hangingPunct="0">
              <a:lnSpc>
                <a:spcPct val="100000"/>
              </a:lnSpc>
              <a:spcBef>
                <a:spcPct val="0"/>
              </a:spcBef>
              <a:spcAft>
                <a:spcPts val="600"/>
              </a:spcAft>
              <a:buClrTx/>
              <a:buSzTx/>
              <a:buFontTx/>
              <a:buAutoNum type="arabicPeriod" startAt="6"/>
              <a:tabLst/>
            </a:pPr>
            <a:r>
              <a:rPr kumimoji="0" lang="en-US" altLang="en-US" sz="1800" b="1" i="0" u="none" strike="noStrike" cap="none" normalizeH="0" baseline="0" dirty="0">
                <a:ln>
                  <a:noFill/>
                </a:ln>
                <a:solidFill>
                  <a:srgbClr val="0D0D0D"/>
                </a:solidFill>
                <a:effectLst/>
                <a:latin typeface="ui-sans-serif"/>
              </a:rPr>
              <a:t>Deployment</a:t>
            </a:r>
            <a:r>
              <a:rPr kumimoji="0" lang="en-US" altLang="en-US" sz="1800" b="0" i="0" u="none" strike="noStrike" cap="none" normalizeH="0" baseline="0" dirty="0">
                <a:ln>
                  <a:noFill/>
                </a:ln>
                <a:solidFill>
                  <a:srgbClr val="0D0D0D"/>
                </a:solidFill>
                <a:effectLst/>
                <a:latin typeface="ui-sans-serif"/>
              </a:rPr>
              <a:t>: Deployed the model for real-time inverter failure prediction to enable proactive maintenance.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5430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A304077-2D1C-12FF-644C-C78984D8669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DA8D1C2-3C98-273F-4871-A15599CE254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6FAB560C-CB58-A8C0-BC1C-5864E04ECCD0}"/>
              </a:ext>
            </a:extLst>
          </p:cNvPr>
          <p:cNvSpPr txBox="1"/>
          <p:nvPr/>
        </p:nvSpPr>
        <p:spPr>
          <a:xfrm>
            <a:off x="902044" y="6150718"/>
            <a:ext cx="3304196" cy="261610"/>
          </a:xfrm>
          <a:prstGeom prst="rect">
            <a:avLst/>
          </a:prstGeom>
          <a:noFill/>
        </p:spPr>
        <p:txBody>
          <a:bodyPr wrap="square" rtlCol="0">
            <a:spAutoFit/>
          </a:bodyPr>
          <a:lstStyle/>
          <a:p>
            <a:pPr>
              <a:spcAft>
                <a:spcPts val="800"/>
              </a:spcAft>
            </a:pPr>
            <a:r>
              <a:rPr lang="en-US" sz="1100" b="0" i="0" u="none" strike="noStrike" dirty="0">
                <a:effectLst/>
                <a:latin typeface="ui-sans-serif"/>
              </a:rPr>
              <a:t>Random Forest Algorithm - Towards Data Science</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4737A0E5-6D06-2D61-AF6B-64D27D904A6D}"/>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ctangle 4">
            <a:extLst>
              <a:ext uri="{FF2B5EF4-FFF2-40B4-BE49-F238E27FC236}">
                <a16:creationId xmlns:a16="http://schemas.microsoft.com/office/drawing/2014/main" id="{F5CAF3C6-B209-A291-D298-493AAC42B63F}"/>
              </a:ext>
            </a:extLst>
          </p:cNvPr>
          <p:cNvSpPr>
            <a:spLocks noChangeArrowheads="1"/>
          </p:cNvSpPr>
          <p:nvPr/>
        </p:nvSpPr>
        <p:spPr bwMode="auto">
          <a:xfrm>
            <a:off x="417949" y="1461249"/>
            <a:ext cx="10888337" cy="39355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98375" numCol="1" anchor="ctr" anchorCtr="0" compatLnSpc="1">
            <a:prstTxWarp prst="textNoShape">
              <a:avLst/>
            </a:prstTxWarp>
            <a:spAutoFit/>
          </a:bodyPr>
          <a:lstStyle/>
          <a:p>
            <a:r>
              <a:rPr lang="en-US" b="1" dirty="0"/>
              <a:t>Algorithm Used:</a:t>
            </a:r>
          </a:p>
          <a:p>
            <a:endParaRPr lang="en-US" b="1" dirty="0"/>
          </a:p>
          <a:p>
            <a:r>
              <a:rPr lang="en-US" b="1" dirty="0"/>
              <a:t>Random Forest Classifier</a:t>
            </a:r>
            <a:r>
              <a:rPr lang="en-US" dirty="0"/>
              <a:t>:</a:t>
            </a:r>
          </a:p>
          <a:p>
            <a:pPr lvl="1"/>
            <a:r>
              <a:rPr lang="en-US" b="1" dirty="0"/>
              <a:t>Reason</a:t>
            </a:r>
            <a:r>
              <a:rPr lang="en-US" dirty="0"/>
              <a:t>: Random Forest was chosen for its ability to handle large datasets with high dimensionality. It is robust to overfitting and can handle both numerical and categorical features effectively.</a:t>
            </a:r>
          </a:p>
          <a:p>
            <a:pPr lvl="1"/>
            <a:endParaRPr lang="en-US" dirty="0"/>
          </a:p>
          <a:p>
            <a:r>
              <a:rPr lang="en-US" b="1" dirty="0"/>
              <a:t>Support Vector Machines (SVM)</a:t>
            </a:r>
            <a:r>
              <a:rPr lang="en-US" dirty="0"/>
              <a:t>:</a:t>
            </a:r>
          </a:p>
          <a:p>
            <a:pPr lvl="1"/>
            <a:r>
              <a:rPr lang="en-US" b="1" dirty="0"/>
              <a:t>Reason</a:t>
            </a:r>
            <a:r>
              <a:rPr lang="en-US" dirty="0"/>
              <a:t>: SVM is effective for high-dimensional spaces and was tested to see how well it classifies failure and non-failure conditions. It’s particularly useful when data is not linearly separable.</a:t>
            </a:r>
          </a:p>
          <a:p>
            <a:pPr lvl="1"/>
            <a:endParaRPr lang="en-US" dirty="0"/>
          </a:p>
          <a:p>
            <a:r>
              <a:rPr lang="en-US" b="1" dirty="0"/>
              <a:t>Decision Trees</a:t>
            </a:r>
            <a:r>
              <a:rPr lang="en-US" dirty="0"/>
              <a:t>:</a:t>
            </a:r>
          </a:p>
          <a:p>
            <a:pPr lvl="1"/>
            <a:r>
              <a:rPr lang="en-US" b="1" dirty="0"/>
              <a:t>Reason</a:t>
            </a:r>
            <a:r>
              <a:rPr lang="en-US" dirty="0"/>
              <a:t>: Decision Trees were used as an interpretable model to understand the decision-making process behind the failure prediction.</a:t>
            </a:r>
          </a:p>
        </p:txBody>
      </p:sp>
    </p:spTree>
    <p:extLst>
      <p:ext uri="{BB962C8B-B14F-4D97-AF65-F5344CB8AC3E}">
        <p14:creationId xmlns:p14="http://schemas.microsoft.com/office/powerpoint/2010/main" val="3695575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5D435B-5BAA-F7DE-1E2E-1027851DBEDA}"/>
              </a:ext>
            </a:extLst>
          </p:cNvPr>
          <p:cNvPicPr>
            <a:picLocks noChangeAspect="1"/>
          </p:cNvPicPr>
          <p:nvPr/>
        </p:nvPicPr>
        <p:blipFill>
          <a:blip r:embed="rId2"/>
          <a:stretch>
            <a:fillRect/>
          </a:stretch>
        </p:blipFill>
        <p:spPr>
          <a:xfrm>
            <a:off x="0" y="1888672"/>
            <a:ext cx="10477500" cy="2667000"/>
          </a:xfrm>
          <a:prstGeom prst="rect">
            <a:avLst/>
          </a:prstGeom>
        </p:spPr>
      </p:pic>
      <p:sp>
        <p:nvSpPr>
          <p:cNvPr id="4" name="TextBox 3">
            <a:extLst>
              <a:ext uri="{FF2B5EF4-FFF2-40B4-BE49-F238E27FC236}">
                <a16:creationId xmlns:a16="http://schemas.microsoft.com/office/drawing/2014/main" id="{58D4AF69-B8A5-26C7-B389-AF8FD3C81293}"/>
              </a:ext>
            </a:extLst>
          </p:cNvPr>
          <p:cNvSpPr txBox="1"/>
          <p:nvPr/>
        </p:nvSpPr>
        <p:spPr>
          <a:xfrm>
            <a:off x="5238750" y="4947556"/>
            <a:ext cx="2552700" cy="379656"/>
          </a:xfrm>
          <a:prstGeom prst="rect">
            <a:avLst/>
          </a:prstGeom>
          <a:noFill/>
        </p:spPr>
        <p:txBody>
          <a:bodyPr wrap="square" rtlCol="0">
            <a:spAutoFit/>
          </a:bodyPr>
          <a:lstStyle/>
          <a:p>
            <a:r>
              <a:rPr lang="en-US" dirty="0"/>
              <a:t>Flow of Model</a:t>
            </a:r>
            <a:endParaRPr lang="en-IN" dirty="0"/>
          </a:p>
        </p:txBody>
      </p:sp>
    </p:spTree>
    <p:extLst>
      <p:ext uri="{BB962C8B-B14F-4D97-AF65-F5344CB8AC3E}">
        <p14:creationId xmlns:p14="http://schemas.microsoft.com/office/powerpoint/2010/main" val="1351596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Conclusion</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212231" y="1863261"/>
            <a:ext cx="10934740" cy="3477875"/>
          </a:xfrm>
          <a:prstGeom prst="rect">
            <a:avLst/>
          </a:prstGeom>
          <a:noFill/>
        </p:spPr>
        <p:txBody>
          <a:bodyPr wrap="square" rtlCol="0">
            <a:spAutoFit/>
          </a:bodyPr>
          <a:lstStyle/>
          <a:p>
            <a:pPr algn="just"/>
            <a:r>
              <a:rPr lang="en-US" sz="2000" b="0" i="0" dirty="0">
                <a:solidFill>
                  <a:srgbClr val="0D0D0D"/>
                </a:solidFill>
                <a:effectLst/>
                <a:latin typeface="ui-sans-serif"/>
              </a:rPr>
              <a:t>The predictive maintenance model for solar power systems successfully leverages machine learning techniques to predict inverter failures and enhance system reliability. By analyzing historical data on energy generation and weather conditions, the model can identify patterns that precede failures, enabling proactive maintenance.</a:t>
            </a:r>
          </a:p>
          <a:p>
            <a:pPr algn="just"/>
            <a:r>
              <a:rPr lang="en-US" sz="2000" b="0" i="0" dirty="0">
                <a:solidFill>
                  <a:srgbClr val="0D0D0D"/>
                </a:solidFill>
                <a:effectLst/>
                <a:latin typeface="ui-sans-serif"/>
              </a:rPr>
              <a:t>The use of algorithms like Random Forest, SVM, and Decision Trees proved effective in handling complex, high-dimensional data and providing actionable insights. With a reduction in unplanned downtime and maintenance costs, this AI-driven approach contributes to improved energy production and operational efficiency.</a:t>
            </a:r>
          </a:p>
          <a:p>
            <a:pPr algn="just"/>
            <a:r>
              <a:rPr lang="en-US" sz="2000" b="0" i="0" dirty="0">
                <a:solidFill>
                  <a:srgbClr val="0D0D0D"/>
                </a:solidFill>
                <a:effectLst/>
                <a:latin typeface="ui-sans-serif"/>
              </a:rPr>
              <a:t>Overall, predictive maintenance not only optimizes performance but also aligns with sustainability goals, reducing waste and extending the lifespan of critical equipment in solar power plants.</a:t>
            </a:r>
          </a:p>
          <a:p>
            <a:pPr algn="just">
              <a:spcAft>
                <a:spcPts val="800"/>
              </a:spcAft>
            </a:pPr>
            <a:endParaRPr lang="en-US" sz="2000" b="1" dirty="0">
              <a:latin typeface="+mn-lt"/>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32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5C688C9-92D2-840E-9DED-7B4AFE3B4A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019692-B961-8A60-2B3E-F7A4FBDB6D25}"/>
              </a:ext>
            </a:extLst>
          </p:cNvPr>
          <p:cNvSpPr txBox="1"/>
          <p:nvPr/>
        </p:nvSpPr>
        <p:spPr>
          <a:xfrm>
            <a:off x="199810" y="1141433"/>
            <a:ext cx="7029330" cy="4001095"/>
          </a:xfrm>
          <a:prstGeom prst="rect">
            <a:avLst/>
          </a:prstGeom>
          <a:noFill/>
        </p:spPr>
        <p:txBody>
          <a:bodyPr wrap="square" rtlCol="0">
            <a:spAutoFit/>
          </a:bodyPr>
          <a:lstStyle/>
          <a:p>
            <a:pPr algn="just"/>
            <a:r>
              <a:rPr lang="en-US" sz="1800" b="1" i="0" dirty="0">
                <a:solidFill>
                  <a:srgbClr val="0D0D0D"/>
                </a:solidFill>
                <a:effectLst/>
                <a:latin typeface="ui-sans-serif"/>
              </a:rPr>
              <a:t>Future Work</a:t>
            </a:r>
          </a:p>
          <a:p>
            <a:pPr algn="just"/>
            <a:endParaRPr lang="en-US" sz="1800" b="1" i="0" dirty="0">
              <a:solidFill>
                <a:srgbClr val="0D0D0D"/>
              </a:solidFill>
              <a:effectLst/>
              <a:latin typeface="ui-sans-serif"/>
            </a:endParaRPr>
          </a:p>
          <a:p>
            <a:pPr algn="just">
              <a:buFont typeface="+mj-lt"/>
              <a:buAutoNum type="arabicPeriod"/>
            </a:pPr>
            <a:r>
              <a:rPr lang="en-US" sz="1800" b="1" i="0" dirty="0">
                <a:solidFill>
                  <a:srgbClr val="0D0D0D"/>
                </a:solidFill>
                <a:effectLst/>
                <a:latin typeface="ui-sans-serif"/>
              </a:rPr>
              <a:t>Improved Model Accuracy</a:t>
            </a:r>
            <a:r>
              <a:rPr lang="en-US" sz="1800" b="0" i="0" dirty="0">
                <a:solidFill>
                  <a:srgbClr val="0D0D0D"/>
                </a:solidFill>
                <a:effectLst/>
                <a:latin typeface="ui-sans-serif"/>
              </a:rPr>
              <a:t>: Enhance prediction accuracy by adding more features (e.g., real-time sensor data, advanced weather forecasts) and exploring deep learning techniques.</a:t>
            </a:r>
          </a:p>
          <a:p>
            <a:pPr algn="just">
              <a:buFont typeface="+mj-lt"/>
              <a:buAutoNum type="arabicPeriod"/>
            </a:pPr>
            <a:r>
              <a:rPr lang="en-US" sz="1800" b="1" i="0" dirty="0">
                <a:solidFill>
                  <a:srgbClr val="0D0D0D"/>
                </a:solidFill>
                <a:effectLst/>
                <a:latin typeface="ui-sans-serif"/>
              </a:rPr>
              <a:t>Real-Time Monitoring</a:t>
            </a:r>
            <a:r>
              <a:rPr lang="en-US" sz="1800" b="0" i="0" dirty="0">
                <a:solidFill>
                  <a:srgbClr val="0D0D0D"/>
                </a:solidFill>
                <a:effectLst/>
                <a:latin typeface="ui-sans-serif"/>
              </a:rPr>
              <a:t>: Implement real-time data feeds to dynamically update the model and provide timely maintenance alerts.</a:t>
            </a:r>
          </a:p>
          <a:p>
            <a:pPr algn="just">
              <a:buFont typeface="+mj-lt"/>
              <a:buAutoNum type="arabicPeriod"/>
            </a:pPr>
            <a:r>
              <a:rPr lang="en-US" sz="1800" b="1" i="0" dirty="0">
                <a:solidFill>
                  <a:srgbClr val="0D0D0D"/>
                </a:solidFill>
                <a:effectLst/>
                <a:latin typeface="ui-sans-serif"/>
              </a:rPr>
              <a:t>Integration with IoT</a:t>
            </a:r>
            <a:r>
              <a:rPr lang="en-US" sz="1800" b="0" i="0" dirty="0">
                <a:solidFill>
                  <a:srgbClr val="0D0D0D"/>
                </a:solidFill>
                <a:effectLst/>
                <a:latin typeface="ui-sans-serif"/>
              </a:rPr>
              <a:t>: Combine with IoT devices for continuous data collection and automated failure detection.</a:t>
            </a:r>
          </a:p>
          <a:p>
            <a:pPr algn="just">
              <a:buFont typeface="+mj-lt"/>
              <a:buAutoNum type="arabicPeriod"/>
            </a:pPr>
            <a:r>
              <a:rPr lang="en-US" sz="1800" b="1" i="0" dirty="0">
                <a:solidFill>
                  <a:srgbClr val="0D0D0D"/>
                </a:solidFill>
                <a:effectLst/>
                <a:latin typeface="ui-sans-serif"/>
              </a:rPr>
              <a:t>Scalability</a:t>
            </a:r>
            <a:r>
              <a:rPr lang="en-US" sz="1800" b="0" i="0" dirty="0">
                <a:solidFill>
                  <a:srgbClr val="0D0D0D"/>
                </a:solidFill>
                <a:effectLst/>
                <a:latin typeface="ui-sans-serif"/>
              </a:rPr>
              <a:t>: Expand the model to include other renewable energy sources and adapt to different geographical regions.</a:t>
            </a:r>
          </a:p>
          <a:p>
            <a:pPr algn="just">
              <a:buFont typeface="+mj-lt"/>
              <a:buAutoNum type="arabicPeriod"/>
            </a:pPr>
            <a:r>
              <a:rPr lang="en-US" sz="1800" b="1" i="0" dirty="0">
                <a:solidFill>
                  <a:srgbClr val="0D0D0D"/>
                </a:solidFill>
                <a:effectLst/>
                <a:latin typeface="ui-sans-serif"/>
              </a:rPr>
              <a:t>Cost-Benefit Analysis</a:t>
            </a:r>
            <a:r>
              <a:rPr lang="en-US" sz="1800" b="0" i="0" dirty="0">
                <a:solidFill>
                  <a:srgbClr val="0D0D0D"/>
                </a:solidFill>
                <a:effectLst/>
                <a:latin typeface="ui-sans-serif"/>
              </a:rPr>
              <a:t>: Conduct a detailed analysis to quantify the savings from predictive maintenance vs. traditional methods.</a:t>
            </a:r>
          </a:p>
          <a:p>
            <a:pPr algn="just">
              <a:spcAft>
                <a:spcPts val="800"/>
              </a:spcAft>
            </a:pPr>
            <a:endParaRPr lang="en-US" sz="2000" b="1" dirty="0">
              <a:latin typeface="+mn-lt"/>
            </a:endParaRPr>
          </a:p>
        </p:txBody>
      </p:sp>
      <p:cxnSp>
        <p:nvCxnSpPr>
          <p:cNvPr id="10" name="Straight Connector 9">
            <a:extLst>
              <a:ext uri="{FF2B5EF4-FFF2-40B4-BE49-F238E27FC236}">
                <a16:creationId xmlns:a16="http://schemas.microsoft.com/office/drawing/2014/main" id="{F657F4CB-FCE7-2248-3646-02CEF29B9EDB}"/>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1E5ADFC-AD08-52CE-7740-8CE4BF91C013}"/>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6" name="TextBox 5">
            <a:extLst>
              <a:ext uri="{FF2B5EF4-FFF2-40B4-BE49-F238E27FC236}">
                <a16:creationId xmlns:a16="http://schemas.microsoft.com/office/drawing/2014/main" id="{1EA2521A-3A66-4FB2-53B5-8C47FC642769}"/>
              </a:ext>
            </a:extLst>
          </p:cNvPr>
          <p:cNvSpPr txBox="1"/>
          <p:nvPr/>
        </p:nvSpPr>
        <p:spPr>
          <a:xfrm>
            <a:off x="995679" y="6150718"/>
            <a:ext cx="8901355" cy="276999"/>
          </a:xfrm>
          <a:prstGeom prst="rect">
            <a:avLst/>
          </a:prstGeom>
          <a:noFill/>
        </p:spPr>
        <p:txBody>
          <a:bodyPr wrap="square" rtlCol="0">
            <a:spAutoFit/>
          </a:bodyPr>
          <a:lstStyle/>
          <a:p>
            <a:pPr>
              <a:spcAft>
                <a:spcPts val="800"/>
              </a:spcAft>
            </a:pPr>
            <a:r>
              <a:rPr lang="en-IN" sz="1200" dirty="0">
                <a:solidFill>
                  <a:srgbClr val="0000FF"/>
                </a:solidFill>
                <a:latin typeface="+mn-lt"/>
              </a:rPr>
              <a:t>https://www.raicoon.com/en/resources/embrace-the-future-of-predictive-maintenance-services-with-optimized-solar-operations</a:t>
            </a:r>
          </a:p>
        </p:txBody>
      </p:sp>
      <p:pic>
        <p:nvPicPr>
          <p:cNvPr id="8" name="Picture 7">
            <a:extLst>
              <a:ext uri="{FF2B5EF4-FFF2-40B4-BE49-F238E27FC236}">
                <a16:creationId xmlns:a16="http://schemas.microsoft.com/office/drawing/2014/main" id="{281719D9-532B-FB5E-63DB-3D591C4D400B}"/>
              </a:ext>
            </a:extLst>
          </p:cNvPr>
          <p:cNvPicPr>
            <a:picLocks noChangeAspect="1"/>
          </p:cNvPicPr>
          <p:nvPr/>
        </p:nvPicPr>
        <p:blipFill>
          <a:blip r:embed="rId3"/>
          <a:stretch>
            <a:fillRect/>
          </a:stretch>
        </p:blipFill>
        <p:spPr>
          <a:xfrm>
            <a:off x="8109344" y="1590340"/>
            <a:ext cx="3575380" cy="3896060"/>
          </a:xfrm>
          <a:prstGeom prst="rect">
            <a:avLst/>
          </a:prstGeom>
        </p:spPr>
      </p:pic>
    </p:spTree>
    <p:extLst>
      <p:ext uri="{BB962C8B-B14F-4D97-AF65-F5344CB8AC3E}">
        <p14:creationId xmlns:p14="http://schemas.microsoft.com/office/powerpoint/2010/main" val="747741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191908" y="887073"/>
            <a:ext cx="5904091" cy="400110"/>
          </a:xfrm>
          <a:prstGeom prst="rect">
            <a:avLst/>
          </a:prstGeom>
          <a:noFill/>
        </p:spPr>
        <p:txBody>
          <a:bodyPr wrap="square">
            <a:spAutoFit/>
          </a:bodyPr>
          <a:lstStyle/>
          <a:p>
            <a:r>
              <a:rPr lang="en-IN" sz="2000" b="1" dirty="0">
                <a:solidFill>
                  <a:srgbClr val="213163"/>
                </a:solidFill>
              </a:rPr>
              <a:t>References</a:t>
            </a:r>
            <a:endParaRPr lang="en-IN" sz="2000" dirty="0">
              <a:solidFill>
                <a:srgbClr val="213163"/>
              </a:solidFill>
            </a:endParaRPr>
          </a:p>
        </p:txBody>
      </p:sp>
      <p:sp>
        <p:nvSpPr>
          <p:cNvPr id="5" name="Rectangle 2">
            <a:extLst>
              <a:ext uri="{FF2B5EF4-FFF2-40B4-BE49-F238E27FC236}">
                <a16:creationId xmlns:a16="http://schemas.microsoft.com/office/drawing/2014/main" id="{12639368-C3AD-1D1B-9CFB-5653DE413BAB}"/>
              </a:ext>
            </a:extLst>
          </p:cNvPr>
          <p:cNvSpPr>
            <a:spLocks noChangeArrowheads="1"/>
          </p:cNvSpPr>
          <p:nvPr/>
        </p:nvSpPr>
        <p:spPr bwMode="auto">
          <a:xfrm>
            <a:off x="294827" y="1468401"/>
            <a:ext cx="10318744"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Hossain, M. A., Hossain, M. S., Hossain, M. J., &amp; Al-Hammadi, M. (2025). </a:t>
            </a:r>
            <a:r>
              <a:rPr kumimoji="0" lang="en-US" altLang="en-US" sz="1800" b="1" i="0" u="none" strike="noStrike" cap="none" normalizeH="0" baseline="0" dirty="0">
                <a:ln>
                  <a:noFill/>
                </a:ln>
                <a:solidFill>
                  <a:schemeClr val="tx1"/>
                </a:solidFill>
                <a:effectLst/>
                <a:latin typeface="Arial" panose="020B0604020202020204" pitchFamily="34" charset="0"/>
              </a:rPr>
              <a:t>Review of Recent Advances in Predictive Maintenance and Cybersecurity for Solar Panel Systems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Sensors</a:t>
            </a:r>
            <a:r>
              <a:rPr kumimoji="0" lang="en-US" altLang="en-US" sz="1800" b="0" i="0" u="none" strike="noStrike" cap="none" normalizeH="0" baseline="0" dirty="0">
                <a:ln>
                  <a:noFill/>
                </a:ln>
                <a:solidFill>
                  <a:schemeClr val="tx1"/>
                </a:solidFill>
                <a:effectLst/>
                <a:latin typeface="Arial" panose="020B0604020202020204" pitchFamily="34" charset="0"/>
              </a:rPr>
              <a:t>. Retrieved from </a:t>
            </a:r>
            <a:r>
              <a:rPr kumimoji="0" lang="en-US" altLang="en-US" sz="1800" b="0" i="0" u="none" strike="noStrike" cap="none" normalizeH="0" baseline="0" dirty="0">
                <a:ln>
                  <a:noFill/>
                </a:ln>
                <a:solidFill>
                  <a:schemeClr val="tx1"/>
                </a:solidFill>
                <a:effectLst/>
                <a:latin typeface="Arial" panose="020B0604020202020204" pitchFamily="34" charset="0"/>
                <a:hlinkClick r:id="rId3"/>
              </a:rPr>
              <a:t>https://www.mdpi.com/1424-8220/25/1/206</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Kumar, A., Singh, B., &amp; Mohan, C. K. (2023). </a:t>
            </a:r>
            <a:r>
              <a:rPr kumimoji="0" lang="en-US" altLang="en-US" sz="1800" b="1" i="0" u="none" strike="noStrike" cap="none" normalizeH="0" baseline="0" dirty="0">
                <a:ln>
                  <a:noFill/>
                </a:ln>
                <a:solidFill>
                  <a:schemeClr val="tx1"/>
                </a:solidFill>
                <a:effectLst/>
                <a:latin typeface="Arial" panose="020B0604020202020204" pitchFamily="34" charset="0"/>
              </a:rPr>
              <a:t>Machine Learning-Based Predictive Maintenance System for Industrial Machines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IEEE Transactions on Industrial Informatics</a:t>
            </a:r>
            <a:r>
              <a:rPr kumimoji="0" lang="en-US" altLang="en-US" sz="1800" b="0" i="0" u="none" strike="noStrike" cap="none" normalizeH="0" baseline="0" dirty="0">
                <a:ln>
                  <a:noFill/>
                </a:ln>
                <a:solidFill>
                  <a:schemeClr val="tx1"/>
                </a:solidFill>
                <a:effectLst/>
                <a:latin typeface="Arial" panose="020B0604020202020204" pitchFamily="34" charset="0"/>
              </a:rPr>
              <a:t>. Retrieved from </a:t>
            </a: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https://ieeexplore.ieee.org/document/10664535</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Zhang, D., Wang, E., &amp; Li, F. (2024). </a:t>
            </a:r>
            <a:r>
              <a:rPr kumimoji="0" lang="en-US" altLang="en-US" sz="1800" b="1" i="0" u="none" strike="noStrike" cap="none" normalizeH="0" baseline="0" dirty="0">
                <a:ln>
                  <a:noFill/>
                </a:ln>
                <a:solidFill>
                  <a:schemeClr val="tx1"/>
                </a:solidFill>
                <a:effectLst/>
                <a:latin typeface="Arial" panose="020B0604020202020204" pitchFamily="34" charset="0"/>
              </a:rPr>
              <a:t>Comparative Analysis of Machine Learning Models for Predictive Maintenance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Electronics</a:t>
            </a:r>
            <a:r>
              <a:rPr kumimoji="0" lang="en-US" altLang="en-US" sz="1800" b="0" i="0" u="none" strike="noStrike" cap="none" normalizeH="0" baseline="0" dirty="0">
                <a:ln>
                  <a:noFill/>
                </a:ln>
                <a:solidFill>
                  <a:schemeClr val="tx1"/>
                </a:solidFill>
                <a:effectLst/>
                <a:latin typeface="Arial" panose="020B0604020202020204" pitchFamily="34" charset="0"/>
              </a:rPr>
              <a:t>. Retrieved from </a:t>
            </a: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https://www.mdpi.com/2079-9292/13/2/438</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Lee, S., Kim, H., &amp; Park, J. (2023). </a:t>
            </a:r>
            <a:r>
              <a:rPr kumimoji="0" lang="en-US" altLang="en-US" sz="1800" b="1" i="0" u="none" strike="noStrike" cap="none" normalizeH="0" baseline="0" dirty="0">
                <a:ln>
                  <a:noFill/>
                </a:ln>
                <a:solidFill>
                  <a:schemeClr val="tx1"/>
                </a:solidFill>
                <a:effectLst/>
                <a:latin typeface="Arial" panose="020B0604020202020204" pitchFamily="34" charset="0"/>
              </a:rPr>
              <a:t>Machine Learning Models for Solar Power Generation Forecasting in Microgrid Applications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Sustainability</a:t>
            </a:r>
            <a:r>
              <a:rPr kumimoji="0" lang="en-US" altLang="en-US" sz="1800" b="0" i="0" u="none" strike="noStrike" cap="none" normalizeH="0" baseline="0" dirty="0">
                <a:ln>
                  <a:noFill/>
                </a:ln>
                <a:solidFill>
                  <a:schemeClr val="tx1"/>
                </a:solidFill>
                <a:effectLst/>
                <a:latin typeface="Arial" panose="020B0604020202020204" pitchFamily="34" charset="0"/>
              </a:rPr>
              <a:t>. Retrieved from </a:t>
            </a: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https://www.mdpi.com/2071-1050/16/14/6087</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Rossi, L., Brunelli, M., &amp; Bianchi, G. (2022). </a:t>
            </a:r>
            <a:r>
              <a:rPr kumimoji="0" lang="en-US" altLang="en-US" sz="1800" b="1" i="0" u="none" strike="noStrike" cap="none" normalizeH="0" baseline="0" dirty="0">
                <a:ln>
                  <a:noFill/>
                </a:ln>
                <a:solidFill>
                  <a:schemeClr val="tx1"/>
                </a:solidFill>
                <a:effectLst/>
                <a:latin typeface="Arial" panose="020B0604020202020204" pitchFamily="34" charset="0"/>
              </a:rPr>
              <a:t>Machine Learning Approach for Predictive Maintenance in Industry 4.0</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IEEE Access</a:t>
            </a:r>
            <a:r>
              <a:rPr kumimoji="0" lang="en-US" altLang="en-US" sz="1800" b="0" i="0" u="none" strike="noStrike" cap="none" normalizeH="0" baseline="0" dirty="0">
                <a:ln>
                  <a:noFill/>
                </a:ln>
                <a:solidFill>
                  <a:schemeClr val="tx1"/>
                </a:solidFill>
                <a:effectLst/>
                <a:latin typeface="Arial" panose="020B0604020202020204" pitchFamily="34" charset="0"/>
              </a:rPr>
              <a:t>. Retrieved from </a:t>
            </a:r>
            <a:r>
              <a:rPr kumimoji="0" lang="en-US" altLang="en-US" sz="1800" b="0" i="0" u="none" strike="noStrike" cap="none" normalizeH="0" baseline="0" dirty="0">
                <a:ln>
                  <a:noFill/>
                </a:ln>
                <a:solidFill>
                  <a:schemeClr val="tx1"/>
                </a:solidFill>
                <a:effectLst/>
                <a:latin typeface="Arial" panose="020B0604020202020204" pitchFamily="34" charset="0"/>
                <a:hlinkClick r:id="rId7"/>
              </a:rPr>
              <a:t>https://ieeexplore.ieee.org/document/8449150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07925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4315206" y="3214562"/>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dirty="0">
                <a:solidFill>
                  <a:srgbClr val="213163"/>
                </a:solidFill>
              </a:rPr>
              <a:t>Thank You</a:t>
            </a:r>
            <a:endParaRPr lang="en-US" sz="5000" dirty="0"/>
          </a:p>
        </p:txBody>
      </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706AB80-2608-47D7-8AC8-FA6BC8A9B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3777</TotalTime>
  <Words>1188</Words>
  <Application>Microsoft Office PowerPoint</Application>
  <PresentationFormat>Widescreen</PresentationFormat>
  <Paragraphs>90</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Google Sans</vt:lpstr>
      <vt:lpstr>Times New Roman</vt:lpstr>
      <vt:lpstr>ui-monospace</vt:lpstr>
      <vt:lpstr>ui-sans-serif</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mukund kuthe</cp:lastModifiedBy>
  <cp:revision>66</cp:revision>
  <dcterms:modified xsi:type="dcterms:W3CDTF">2025-01-18T03:44:57Z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